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rial Bold" panose="020B0704020202020204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2944120"/>
            <a:ext cx="381000" cy="28575"/>
            <a:chOff x="0" y="0"/>
            <a:chExt cx="5080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8000" cy="38100"/>
            </a:xfrm>
            <a:custGeom>
              <a:avLst/>
              <a:gdLst/>
              <a:ahLst/>
              <a:cxnLst/>
              <a:rect l="l" t="t" r="r" b="b"/>
              <a:pathLst>
                <a:path w="508000" h="38100">
                  <a:moveTo>
                    <a:pt x="0" y="0"/>
                  </a:moveTo>
                  <a:lnTo>
                    <a:pt x="508000" y="0"/>
                  </a:lnTo>
                  <a:lnTo>
                    <a:pt x="50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BB7B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682753" y="2888551"/>
            <a:ext cx="5356898" cy="1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800" b="1" spc="358">
                <a:solidFill>
                  <a:srgbClr val="5FD0D2"/>
                </a:solidFill>
                <a:latin typeface="Arial Bold"/>
                <a:ea typeface="Arial Bold"/>
                <a:cs typeface="Arial Bold"/>
                <a:sym typeface="Arial Bold"/>
              </a:rPr>
              <a:t>서울시 상권 데이터 분석 · 조기경보 시스템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8403" y="3574352"/>
            <a:ext cx="16431263" cy="19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00"/>
              </a:lnSpc>
            </a:pPr>
            <a:r>
              <a:rPr lang="en-US" sz="8100" b="1" spc="-16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서울시 상권 쇠퇴 조기경보 대시보드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8403" y="5749033"/>
            <a:ext cx="17551403" cy="50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3000">
                <a:solidFill>
                  <a:srgbClr val="8FE3E5"/>
                </a:solidFill>
                <a:latin typeface="Arial"/>
                <a:ea typeface="Arial"/>
                <a:cs typeface="Arial"/>
                <a:sym typeface="Arial"/>
              </a:rPr>
              <a:t>상권이 무너지기 전, 신호를 먼저 잡는다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3000" y="6771380"/>
            <a:ext cx="6096000" cy="19050"/>
            <a:chOff x="0" y="0"/>
            <a:chExt cx="8128000" cy="25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0" cy="25400"/>
            </a:xfrm>
            <a:custGeom>
              <a:avLst/>
              <a:gdLst/>
              <a:ahLst/>
              <a:cxnLst/>
              <a:rect l="l" t="t" r="r" b="b"/>
              <a:pathLst>
                <a:path w="8128000" h="25400">
                  <a:moveTo>
                    <a:pt x="0" y="0"/>
                  </a:moveTo>
                  <a:lnTo>
                    <a:pt x="8128000" y="0"/>
                  </a:lnTo>
                  <a:lnTo>
                    <a:pt x="812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A6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87453" y="6930133"/>
            <a:ext cx="17551403" cy="457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025">
                <a:solidFill>
                  <a:srgbClr val="9FB2C7"/>
                </a:solidFill>
                <a:latin typeface="Arial"/>
                <a:ea typeface="Arial"/>
                <a:cs typeface="Arial"/>
                <a:sym typeface="Arial"/>
              </a:rPr>
              <a:t> BDAI × 플랜잇 데이터 분석 공모전 | 송재윤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905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1303" y="825503"/>
            <a:ext cx="3319786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문제 정의 · 02 /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3153" y="1225553"/>
            <a:ext cx="17760953" cy="56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650" b="1" spc="-45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왜 “조기경보”인가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1991620"/>
            <a:ext cx="16192500" cy="19050"/>
            <a:chOff x="0" y="0"/>
            <a:chExt cx="21590000" cy="25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750" y="2563120"/>
            <a:ext cx="104775" cy="104775"/>
            <a:chOff x="0" y="0"/>
            <a:chExt cx="139700" cy="139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68428" y="2283714"/>
            <a:ext cx="14576146" cy="53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4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기존 상권 분석은 대부분 쇠퇴가 확정된 뒤의 </a:t>
            </a:r>
            <a:r>
              <a:rPr lang="en-US" sz="2400" b="1">
                <a:solidFill>
                  <a:srgbClr val="D92D20"/>
                </a:solidFill>
                <a:latin typeface="Arial Bold"/>
                <a:ea typeface="Arial Bold"/>
                <a:cs typeface="Arial Bold"/>
                <a:sym typeface="Arial Bold"/>
              </a:rPr>
              <a:t>사후 진단</a:t>
            </a:r>
            <a:r>
              <a:rPr lang="en-US" sz="24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(공실률 급증, 폐업 속출)에 초점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47750" y="3257474"/>
            <a:ext cx="104775" cy="104775"/>
            <a:chOff x="0" y="0"/>
            <a:chExt cx="139700" cy="139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68428" y="2914698"/>
            <a:ext cx="15678179" cy="99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4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본 대시보드는 반대 방향: 폐업이 본격화되기 전 </a:t>
            </a:r>
            <a:r>
              <a:rPr lang="en-US" sz="2400" b="1">
                <a:solidFill>
                  <a:srgbClr val="1C6FD6"/>
                </a:solidFill>
                <a:latin typeface="Arial Bold"/>
                <a:ea typeface="Arial Bold"/>
                <a:cs typeface="Arial Bold"/>
                <a:sym typeface="Arial Bold"/>
              </a:rPr>
              <a:t>초기 신호 </a:t>
            </a:r>
            <a:r>
              <a:rPr lang="en-US" sz="24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(순증 마이너스 전환 + 폐업률 가속화)를 잡아 정책 개입 타이밍을 앞당김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31081" y="8130111"/>
            <a:ext cx="7824788" cy="1373505"/>
            <a:chOff x="0" y="0"/>
            <a:chExt cx="10433050" cy="18313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33050" cy="1831340"/>
            </a:xfrm>
            <a:custGeom>
              <a:avLst/>
              <a:gdLst/>
              <a:ahLst/>
              <a:cxnLst/>
              <a:rect l="l" t="t" r="r" b="b"/>
              <a:pathLst>
                <a:path w="10433050" h="1831340">
                  <a:moveTo>
                    <a:pt x="0" y="0"/>
                  </a:moveTo>
                  <a:lnTo>
                    <a:pt x="10433050" y="0"/>
                  </a:lnTo>
                  <a:lnTo>
                    <a:pt x="10433050" y="1831340"/>
                  </a:lnTo>
                  <a:lnTo>
                    <a:pt x="0" y="1831340"/>
                  </a:lnTo>
                  <a:close/>
                </a:path>
              </a:pathLst>
            </a:custGeom>
            <a:solidFill>
              <a:srgbClr val="FBEEED"/>
            </a:solidFill>
            <a:ln w="19050" cap="sq">
              <a:solidFill>
                <a:srgbClr val="F0C9C5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16053" y="8496024"/>
            <a:ext cx="7765418" cy="168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575" b="1" spc="156">
                <a:solidFill>
                  <a:srgbClr val="D92D20"/>
                </a:solidFill>
                <a:latin typeface="Arial Bold"/>
                <a:ea typeface="Arial Bold"/>
                <a:cs typeface="Arial Bold"/>
                <a:sym typeface="Arial Bold"/>
              </a:rPr>
              <a:t>기존 방식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6053" y="8753199"/>
            <a:ext cx="7765418" cy="44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85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사후 복구 지원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801100" y="8146780"/>
            <a:ext cx="685800" cy="1378220"/>
            <a:chOff x="0" y="0"/>
            <a:chExt cx="914400" cy="183762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4400" cy="1837690"/>
            </a:xfrm>
            <a:custGeom>
              <a:avLst/>
              <a:gdLst/>
              <a:ahLst/>
              <a:cxnLst/>
              <a:rect l="l" t="t" r="r" b="b"/>
              <a:pathLst>
                <a:path w="914400" h="1837690">
                  <a:moveTo>
                    <a:pt x="0" y="0"/>
                  </a:moveTo>
                  <a:lnTo>
                    <a:pt x="914400" y="0"/>
                  </a:lnTo>
                  <a:lnTo>
                    <a:pt x="914400" y="1837690"/>
                  </a:lnTo>
                  <a:lnTo>
                    <a:pt x="0" y="1837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8026" r="-208025" b="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801100" y="8168211"/>
            <a:ext cx="685800" cy="1356789"/>
            <a:chOff x="0" y="0"/>
            <a:chExt cx="914400" cy="18090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" cy="1809052"/>
            </a:xfrm>
            <a:custGeom>
              <a:avLst/>
              <a:gdLst/>
              <a:ahLst/>
              <a:cxnLst/>
              <a:rect l="l" t="t" r="r" b="b"/>
              <a:pathLst>
                <a:path w="914400" h="1809052">
                  <a:moveTo>
                    <a:pt x="0" y="0"/>
                  </a:moveTo>
                  <a:lnTo>
                    <a:pt x="914400" y="0"/>
                  </a:lnTo>
                  <a:lnTo>
                    <a:pt x="914400" y="1809052"/>
                  </a:lnTo>
                  <a:lnTo>
                    <a:pt x="0" y="18090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3836" r="-20383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914400" cy="1780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9"/>
                </a:lnSpc>
              </a:pPr>
              <a:r>
                <a:rPr lang="en-US" sz="3000" b="1">
                  <a:solidFill>
                    <a:srgbClr val="128A8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32131" y="8130111"/>
            <a:ext cx="7824788" cy="1373505"/>
            <a:chOff x="0" y="0"/>
            <a:chExt cx="10433050" cy="18313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433050" cy="1831340"/>
            </a:xfrm>
            <a:custGeom>
              <a:avLst/>
              <a:gdLst/>
              <a:ahLst/>
              <a:cxnLst/>
              <a:rect l="l" t="t" r="r" b="b"/>
              <a:pathLst>
                <a:path w="10433050" h="1831340">
                  <a:moveTo>
                    <a:pt x="0" y="0"/>
                  </a:moveTo>
                  <a:lnTo>
                    <a:pt x="10433050" y="0"/>
                  </a:lnTo>
                  <a:lnTo>
                    <a:pt x="10433050" y="1831340"/>
                  </a:lnTo>
                  <a:lnTo>
                    <a:pt x="0" y="1831340"/>
                  </a:lnTo>
                  <a:close/>
                </a:path>
              </a:pathLst>
            </a:custGeom>
            <a:solidFill>
              <a:srgbClr val="10243B"/>
            </a:solidFill>
            <a:ln w="19050" cap="sq">
              <a:solidFill>
                <a:srgbClr val="10243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817103" y="8496024"/>
            <a:ext cx="7765418" cy="168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575" b="1" spc="156">
                <a:solidFill>
                  <a:srgbClr val="5FD0D2"/>
                </a:solidFill>
                <a:latin typeface="Arial Bold"/>
                <a:ea typeface="Arial Bold"/>
                <a:cs typeface="Arial Bold"/>
                <a:sym typeface="Arial Bold"/>
              </a:rPr>
              <a:t>본 대시보드 목표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17103" y="8753199"/>
            <a:ext cx="7765418" cy="44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8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사전 예방적 개입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905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1303" y="825503"/>
            <a:ext cx="4135650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데이터 개요 · 03 /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3153" y="1225553"/>
            <a:ext cx="17760953" cy="56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650" b="1" spc="-45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데이터 개요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1991620"/>
            <a:ext cx="16192500" cy="19050"/>
            <a:chOff x="0" y="0"/>
            <a:chExt cx="21590000" cy="25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750" y="2391670"/>
            <a:ext cx="5270468" cy="1227773"/>
            <a:chOff x="0" y="0"/>
            <a:chExt cx="7027291" cy="16370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27291" cy="1637030"/>
            </a:xfrm>
            <a:custGeom>
              <a:avLst/>
              <a:gdLst/>
              <a:ahLst/>
              <a:cxnLst/>
              <a:rect l="l" t="t" r="r" b="b"/>
              <a:pathLst>
                <a:path w="7027291" h="1637030">
                  <a:moveTo>
                    <a:pt x="0" y="0"/>
                  </a:moveTo>
                  <a:lnTo>
                    <a:pt x="7027291" y="0"/>
                  </a:lnTo>
                  <a:lnTo>
                    <a:pt x="7027291" y="1637030"/>
                  </a:lnTo>
                  <a:lnTo>
                    <a:pt x="0" y="163703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3609899"/>
            <a:ext cx="5270468" cy="9525"/>
            <a:chOff x="0" y="0"/>
            <a:chExt cx="7027291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27291" cy="12700"/>
            </a:xfrm>
            <a:custGeom>
              <a:avLst/>
              <a:gdLst/>
              <a:ahLst/>
              <a:cxnLst/>
              <a:rect l="l" t="t" r="r" b="b"/>
              <a:pathLst>
                <a:path w="7027291" h="12700">
                  <a:moveTo>
                    <a:pt x="0" y="0"/>
                  </a:moveTo>
                  <a:lnTo>
                    <a:pt x="7027291" y="0"/>
                  </a:lnTo>
                  <a:lnTo>
                    <a:pt x="702729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750" y="2391670"/>
            <a:ext cx="5270468" cy="38100"/>
            <a:chOff x="0" y="0"/>
            <a:chExt cx="7027291" cy="50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27291" cy="50800"/>
            </a:xfrm>
            <a:custGeom>
              <a:avLst/>
              <a:gdLst/>
              <a:ahLst/>
              <a:cxnLst/>
              <a:rect l="l" t="t" r="r" b="b"/>
              <a:pathLst>
                <a:path w="7027291" h="50800">
                  <a:moveTo>
                    <a:pt x="0" y="0"/>
                  </a:moveTo>
                  <a:lnTo>
                    <a:pt x="7027291" y="0"/>
                  </a:lnTo>
                  <a:lnTo>
                    <a:pt x="70272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7750" y="2391670"/>
            <a:ext cx="9525" cy="1227773"/>
            <a:chOff x="0" y="0"/>
            <a:chExt cx="12700" cy="16370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700" cy="1637030"/>
            </a:xfrm>
            <a:custGeom>
              <a:avLst/>
              <a:gdLst/>
              <a:ahLst/>
              <a:cxnLst/>
              <a:rect l="l" t="t" r="r" b="b"/>
              <a:pathLst>
                <a:path w="12700" h="1637030">
                  <a:moveTo>
                    <a:pt x="0" y="0"/>
                  </a:moveTo>
                  <a:lnTo>
                    <a:pt x="12700" y="0"/>
                  </a:lnTo>
                  <a:lnTo>
                    <a:pt x="12700" y="1637030"/>
                  </a:lnTo>
                  <a:lnTo>
                    <a:pt x="0" y="163703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08674" y="2391670"/>
            <a:ext cx="9525" cy="1227773"/>
            <a:chOff x="0" y="0"/>
            <a:chExt cx="12700" cy="16370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700" cy="1637030"/>
            </a:xfrm>
            <a:custGeom>
              <a:avLst/>
              <a:gdLst/>
              <a:ahLst/>
              <a:cxnLst/>
              <a:rect l="l" t="t" r="r" b="b"/>
              <a:pathLst>
                <a:path w="12700" h="1637030">
                  <a:moveTo>
                    <a:pt x="0" y="0"/>
                  </a:moveTo>
                  <a:lnTo>
                    <a:pt x="12700" y="0"/>
                  </a:lnTo>
                  <a:lnTo>
                    <a:pt x="12700" y="1637030"/>
                  </a:lnTo>
                  <a:lnTo>
                    <a:pt x="0" y="163703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30328" y="2702814"/>
            <a:ext cx="5180914" cy="38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360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25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0328" y="3083814"/>
            <a:ext cx="5180914" cy="34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1725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자치구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508699" y="2391670"/>
            <a:ext cx="5270564" cy="1227773"/>
            <a:chOff x="0" y="0"/>
            <a:chExt cx="7027418" cy="163703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27418" cy="1637030"/>
            </a:xfrm>
            <a:custGeom>
              <a:avLst/>
              <a:gdLst/>
              <a:ahLst/>
              <a:cxnLst/>
              <a:rect l="l" t="t" r="r" b="b"/>
              <a:pathLst>
                <a:path w="7027418" h="1637030">
                  <a:moveTo>
                    <a:pt x="0" y="0"/>
                  </a:moveTo>
                  <a:lnTo>
                    <a:pt x="7027418" y="0"/>
                  </a:lnTo>
                  <a:lnTo>
                    <a:pt x="7027418" y="1637030"/>
                  </a:lnTo>
                  <a:lnTo>
                    <a:pt x="0" y="163703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08699" y="3609899"/>
            <a:ext cx="5270564" cy="9525"/>
            <a:chOff x="0" y="0"/>
            <a:chExt cx="7027418" cy="12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27418" cy="12700"/>
            </a:xfrm>
            <a:custGeom>
              <a:avLst/>
              <a:gdLst/>
              <a:ahLst/>
              <a:cxnLst/>
              <a:rect l="l" t="t" r="r" b="b"/>
              <a:pathLst>
                <a:path w="7027418" h="12700">
                  <a:moveTo>
                    <a:pt x="0" y="0"/>
                  </a:moveTo>
                  <a:lnTo>
                    <a:pt x="7027418" y="0"/>
                  </a:lnTo>
                  <a:lnTo>
                    <a:pt x="702741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508699" y="2391670"/>
            <a:ext cx="5270564" cy="38100"/>
            <a:chOff x="0" y="0"/>
            <a:chExt cx="7027418" cy="50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27418" cy="50800"/>
            </a:xfrm>
            <a:custGeom>
              <a:avLst/>
              <a:gdLst/>
              <a:ahLst/>
              <a:cxnLst/>
              <a:rect l="l" t="t" r="r" b="b"/>
              <a:pathLst>
                <a:path w="7027418" h="50800">
                  <a:moveTo>
                    <a:pt x="0" y="0"/>
                  </a:moveTo>
                  <a:lnTo>
                    <a:pt x="7027418" y="0"/>
                  </a:lnTo>
                  <a:lnTo>
                    <a:pt x="702741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08699" y="2391670"/>
            <a:ext cx="9525" cy="1227773"/>
            <a:chOff x="0" y="0"/>
            <a:chExt cx="12700" cy="16370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700" cy="1637030"/>
            </a:xfrm>
            <a:custGeom>
              <a:avLst/>
              <a:gdLst/>
              <a:ahLst/>
              <a:cxnLst/>
              <a:rect l="l" t="t" r="r" b="b"/>
              <a:pathLst>
                <a:path w="12700" h="1637030">
                  <a:moveTo>
                    <a:pt x="0" y="0"/>
                  </a:moveTo>
                  <a:lnTo>
                    <a:pt x="12700" y="0"/>
                  </a:lnTo>
                  <a:lnTo>
                    <a:pt x="12700" y="1637030"/>
                  </a:lnTo>
                  <a:lnTo>
                    <a:pt x="0" y="163703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769700" y="2391670"/>
            <a:ext cx="9525" cy="1227773"/>
            <a:chOff x="0" y="0"/>
            <a:chExt cx="12700" cy="163703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700" cy="1637030"/>
            </a:xfrm>
            <a:custGeom>
              <a:avLst/>
              <a:gdLst/>
              <a:ahLst/>
              <a:cxnLst/>
              <a:rect l="l" t="t" r="r" b="b"/>
              <a:pathLst>
                <a:path w="12700" h="1637030">
                  <a:moveTo>
                    <a:pt x="0" y="0"/>
                  </a:moveTo>
                  <a:lnTo>
                    <a:pt x="12700" y="0"/>
                  </a:lnTo>
                  <a:lnTo>
                    <a:pt x="12700" y="1637030"/>
                  </a:lnTo>
                  <a:lnTo>
                    <a:pt x="0" y="163703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791277" y="2702814"/>
            <a:ext cx="5180990" cy="38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360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1,650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91277" y="3195923"/>
            <a:ext cx="5180990" cy="34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1725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상권</a:t>
            </a:r>
            <a:endParaRPr lang="en-US" sz="1725" dirty="0">
              <a:solidFill>
                <a:srgbClr val="5C6B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11969725" y="2391670"/>
            <a:ext cx="5270468" cy="1227773"/>
            <a:chOff x="0" y="0"/>
            <a:chExt cx="7027291" cy="163703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027291" cy="1637030"/>
            </a:xfrm>
            <a:custGeom>
              <a:avLst/>
              <a:gdLst/>
              <a:ahLst/>
              <a:cxnLst/>
              <a:rect l="l" t="t" r="r" b="b"/>
              <a:pathLst>
                <a:path w="7027291" h="1637030">
                  <a:moveTo>
                    <a:pt x="0" y="0"/>
                  </a:moveTo>
                  <a:lnTo>
                    <a:pt x="7027291" y="0"/>
                  </a:lnTo>
                  <a:lnTo>
                    <a:pt x="7027291" y="1637030"/>
                  </a:lnTo>
                  <a:lnTo>
                    <a:pt x="0" y="163703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969725" y="3609899"/>
            <a:ext cx="5270468" cy="9525"/>
            <a:chOff x="0" y="0"/>
            <a:chExt cx="7027291" cy="12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027291" cy="12700"/>
            </a:xfrm>
            <a:custGeom>
              <a:avLst/>
              <a:gdLst/>
              <a:ahLst/>
              <a:cxnLst/>
              <a:rect l="l" t="t" r="r" b="b"/>
              <a:pathLst>
                <a:path w="7027291" h="12700">
                  <a:moveTo>
                    <a:pt x="0" y="0"/>
                  </a:moveTo>
                  <a:lnTo>
                    <a:pt x="7027291" y="0"/>
                  </a:lnTo>
                  <a:lnTo>
                    <a:pt x="702729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969725" y="2391670"/>
            <a:ext cx="5270468" cy="38100"/>
            <a:chOff x="0" y="0"/>
            <a:chExt cx="7027291" cy="50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027291" cy="50800"/>
            </a:xfrm>
            <a:custGeom>
              <a:avLst/>
              <a:gdLst/>
              <a:ahLst/>
              <a:cxnLst/>
              <a:rect l="l" t="t" r="r" b="b"/>
              <a:pathLst>
                <a:path w="7027291" h="50800">
                  <a:moveTo>
                    <a:pt x="0" y="0"/>
                  </a:moveTo>
                  <a:lnTo>
                    <a:pt x="7027291" y="0"/>
                  </a:lnTo>
                  <a:lnTo>
                    <a:pt x="70272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969725" y="2391670"/>
            <a:ext cx="9525" cy="1227773"/>
            <a:chOff x="0" y="0"/>
            <a:chExt cx="12700" cy="163703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700" cy="1637030"/>
            </a:xfrm>
            <a:custGeom>
              <a:avLst/>
              <a:gdLst/>
              <a:ahLst/>
              <a:cxnLst/>
              <a:rect l="l" t="t" r="r" b="b"/>
              <a:pathLst>
                <a:path w="12700" h="1637030">
                  <a:moveTo>
                    <a:pt x="0" y="0"/>
                  </a:moveTo>
                  <a:lnTo>
                    <a:pt x="12700" y="0"/>
                  </a:lnTo>
                  <a:lnTo>
                    <a:pt x="12700" y="1637030"/>
                  </a:lnTo>
                  <a:lnTo>
                    <a:pt x="0" y="163703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7230649" y="2391670"/>
            <a:ext cx="9525" cy="1227773"/>
            <a:chOff x="0" y="0"/>
            <a:chExt cx="12700" cy="163703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700" cy="1637030"/>
            </a:xfrm>
            <a:custGeom>
              <a:avLst/>
              <a:gdLst/>
              <a:ahLst/>
              <a:cxnLst/>
              <a:rect l="l" t="t" r="r" b="b"/>
              <a:pathLst>
                <a:path w="12700" h="1637030">
                  <a:moveTo>
                    <a:pt x="0" y="0"/>
                  </a:moveTo>
                  <a:lnTo>
                    <a:pt x="12700" y="0"/>
                  </a:lnTo>
                  <a:lnTo>
                    <a:pt x="12700" y="1637030"/>
                  </a:lnTo>
                  <a:lnTo>
                    <a:pt x="0" y="163703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2252303" y="2702814"/>
            <a:ext cx="5180914" cy="38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360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2025 · 1~4Q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233253" y="3195923"/>
            <a:ext cx="5180914" cy="34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sz="1725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725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25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기간</a:t>
            </a:r>
            <a:r>
              <a:rPr lang="en-US" sz="1725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en-US" sz="1725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공공데이터</a:t>
            </a:r>
            <a:endParaRPr lang="en-US" sz="1725" dirty="0">
              <a:solidFill>
                <a:srgbClr val="5C6B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073153" y="3892477"/>
            <a:ext cx="17760953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500" b="1" spc="120" dirty="0" err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사용한</a:t>
            </a:r>
            <a:r>
              <a:rPr lang="en-US" sz="1500" b="1" spc="120" dirty="0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500" b="1" spc="120" dirty="0" err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데이터</a:t>
            </a:r>
            <a:r>
              <a:rPr lang="en-US" sz="1500" b="1" spc="120" dirty="0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 3종 · </a:t>
            </a:r>
            <a:r>
              <a:rPr lang="en-US" sz="1500" b="1" spc="120" dirty="0" err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서울시</a:t>
            </a:r>
            <a:r>
              <a:rPr lang="en-US" sz="1500" b="1" spc="120" dirty="0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500" b="1" spc="120" dirty="0" err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상권분석서비스</a:t>
            </a:r>
            <a:r>
              <a:rPr lang="en-US" sz="1500" b="1" spc="120" dirty="0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(DA  T A   . SEOUL.GO.KR)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39416" y="4182589"/>
            <a:ext cx="5287137" cy="1047655"/>
            <a:chOff x="0" y="0"/>
            <a:chExt cx="7049516" cy="139687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049516" cy="1396873"/>
            </a:xfrm>
            <a:custGeom>
              <a:avLst/>
              <a:gdLst/>
              <a:ahLst/>
              <a:cxnLst/>
              <a:rect l="l" t="t" r="r" b="b"/>
              <a:pathLst>
                <a:path w="7049516" h="1396873">
                  <a:moveTo>
                    <a:pt x="0" y="0"/>
                  </a:moveTo>
                  <a:lnTo>
                    <a:pt x="7049516" y="0"/>
                  </a:lnTo>
                  <a:lnTo>
                    <a:pt x="7049516" y="1396873"/>
                  </a:lnTo>
                  <a:lnTo>
                    <a:pt x="0" y="13968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265" b="-48266"/>
              </a:stretch>
            </a:blipFill>
            <a:ln w="9525" cap="sq">
              <a:solidFill>
                <a:srgbClr val="D7DDE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311278" y="4435402"/>
            <a:ext cx="239639" cy="21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950" b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①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53711" y="4387777"/>
            <a:ext cx="1655064" cy="30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"/>
              </a:lnSpc>
            </a:pPr>
            <a:r>
              <a:rPr lang="en-US" sz="1725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master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11278" y="4733777"/>
            <a:ext cx="5222824" cy="413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상권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위치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정보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자치구·좌표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6500365" y="4182589"/>
            <a:ext cx="5287232" cy="1047655"/>
            <a:chOff x="0" y="0"/>
            <a:chExt cx="7049643" cy="139687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049643" cy="1396873"/>
            </a:xfrm>
            <a:custGeom>
              <a:avLst/>
              <a:gdLst/>
              <a:ahLst/>
              <a:cxnLst/>
              <a:rect l="l" t="t" r="r" b="b"/>
              <a:pathLst>
                <a:path w="7049643" h="1396873">
                  <a:moveTo>
                    <a:pt x="0" y="0"/>
                  </a:moveTo>
                  <a:lnTo>
                    <a:pt x="7049643" y="0"/>
                  </a:lnTo>
                  <a:lnTo>
                    <a:pt x="7049643" y="1396873"/>
                  </a:lnTo>
                  <a:lnTo>
                    <a:pt x="0" y="13968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267" b="-48268"/>
              </a:stretch>
            </a:blipFill>
            <a:ln w="9525" cap="sq">
              <a:solidFill>
                <a:srgbClr val="D7DDE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6772227" y="4435402"/>
            <a:ext cx="239639" cy="21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950" b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②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81714" y="4387777"/>
            <a:ext cx="1207303" cy="30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"/>
              </a:lnSpc>
            </a:pPr>
            <a:r>
              <a:rPr lang="en-US" sz="1725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stores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756350" y="4752327"/>
            <a:ext cx="5222900" cy="413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점포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업종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현황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분기별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개업·폐업·프랜차이즈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점포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수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1961104" y="4182589"/>
            <a:ext cx="6102163" cy="1047655"/>
            <a:chOff x="0" y="0"/>
            <a:chExt cx="8136217" cy="139687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36255" cy="1396873"/>
            </a:xfrm>
            <a:custGeom>
              <a:avLst/>
              <a:gdLst/>
              <a:ahLst/>
              <a:cxnLst/>
              <a:rect l="l" t="t" r="r" b="b"/>
              <a:pathLst>
                <a:path w="8136255" h="1396873">
                  <a:moveTo>
                    <a:pt x="0" y="0"/>
                  </a:moveTo>
                  <a:lnTo>
                    <a:pt x="8136255" y="0"/>
                  </a:lnTo>
                  <a:lnTo>
                    <a:pt x="8136255" y="1396873"/>
                  </a:lnTo>
                  <a:lnTo>
                    <a:pt x="0" y="13968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413" b="-63413"/>
              </a:stretch>
            </a:blipFill>
            <a:ln w="9525" cap="sq">
              <a:solidFill>
                <a:srgbClr val="D7DDE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2233253" y="4435402"/>
            <a:ext cx="239639" cy="21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8"/>
              </a:lnSpc>
            </a:pPr>
            <a:r>
              <a:rPr lang="en-US" sz="1950" b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③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542739" y="4387777"/>
            <a:ext cx="2604697" cy="30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"/>
              </a:lnSpc>
            </a:pPr>
            <a:r>
              <a:rPr lang="en-US" sz="1725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attraction_facilities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233253" y="4699868"/>
            <a:ext cx="5521347" cy="345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주변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시설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정보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지하철역·은행·학교·병원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등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연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1회 </a:t>
            </a:r>
            <a:r>
              <a:rPr lang="en-US" sz="1650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갱신</a:t>
            </a:r>
            <a:r>
              <a:rPr lang="en-US" sz="1650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1047750" y="5574354"/>
            <a:ext cx="104775" cy="104775"/>
            <a:chOff x="0" y="0"/>
            <a:chExt cx="139700" cy="1397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368428" y="5361632"/>
            <a:ext cx="14507194" cy="49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025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분석 단위: </a:t>
            </a:r>
            <a:r>
              <a:rPr lang="en-US" sz="2025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자치구(25개) → 상권(1,650개) </a:t>
            </a:r>
            <a:r>
              <a:rPr lang="en-US" sz="2025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2단계 드릴다운 구조 — 화면1: 자치구 단위 현황 진단 / 화면2: 상권 단위 원인 분석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047750" y="6096667"/>
            <a:ext cx="104775" cy="104775"/>
            <a:chOff x="0" y="0"/>
            <a:chExt cx="139700" cy="1397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394384" y="5889488"/>
            <a:ext cx="12450709" cy="441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025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점포/업종 데이터에서 몇 가지 오류를 발견해 </a:t>
            </a:r>
            <a:r>
              <a:rPr lang="en-US" sz="2025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Python으로 먼저 바로잡았다 </a:t>
            </a:r>
            <a:r>
              <a:rPr lang="en-US" sz="2025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(다음 슬라이드에서 설명)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905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1303" y="825503"/>
            <a:ext cx="3052791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데이터 점검 · 04 /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3153" y="1225553"/>
            <a:ext cx="17760953" cy="51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4200" b="1" spc="-42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KPI를 계산하기 전에, 데이터부터 점검했다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1917944"/>
            <a:ext cx="16192500" cy="19050"/>
            <a:chOff x="0" y="0"/>
            <a:chExt cx="21590000" cy="25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1081" y="2206076"/>
            <a:ext cx="16225838" cy="2093595"/>
            <a:chOff x="0" y="0"/>
            <a:chExt cx="21634450" cy="27914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634450" cy="2791460"/>
            </a:xfrm>
            <a:custGeom>
              <a:avLst/>
              <a:gdLst/>
              <a:ahLst/>
              <a:cxnLst/>
              <a:rect l="l" t="t" r="r" b="b"/>
              <a:pathLst>
                <a:path w="21634450" h="2791460">
                  <a:moveTo>
                    <a:pt x="0" y="0"/>
                  </a:moveTo>
                  <a:lnTo>
                    <a:pt x="21634450" y="0"/>
                  </a:lnTo>
                  <a:lnTo>
                    <a:pt x="21634450" y="2791460"/>
                  </a:lnTo>
                  <a:lnTo>
                    <a:pt x="0" y="27914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0908" b="-100908"/>
              </a:stretch>
            </a:blipFill>
            <a:ln w="19050" cap="sq">
              <a:solidFill>
                <a:srgbClr val="10243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66800" y="2241794"/>
            <a:ext cx="16154400" cy="438150"/>
            <a:chOff x="0" y="0"/>
            <a:chExt cx="21539200" cy="584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39200" cy="584200"/>
            </a:xfrm>
            <a:custGeom>
              <a:avLst/>
              <a:gdLst/>
              <a:ahLst/>
              <a:cxnLst/>
              <a:rect l="l" t="t" r="r" b="b"/>
              <a:pathLst>
                <a:path w="21539200" h="584200">
                  <a:moveTo>
                    <a:pt x="0" y="0"/>
                  </a:moveTo>
                  <a:lnTo>
                    <a:pt x="21539200" y="0"/>
                  </a:lnTo>
                  <a:lnTo>
                    <a:pt x="21539200" y="584200"/>
                  </a:lnTo>
                  <a:lnTo>
                    <a:pt x="0" y="584200"/>
                  </a:lnTo>
                  <a:close/>
                </a:path>
              </a:pathLst>
            </a:custGeom>
            <a:solidFill>
              <a:srgbClr val="FBEEED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6800" y="2660894"/>
            <a:ext cx="16154400" cy="19050"/>
            <a:chOff x="0" y="0"/>
            <a:chExt cx="21539200" cy="25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39200" cy="25400"/>
            </a:xfrm>
            <a:custGeom>
              <a:avLst/>
              <a:gdLst/>
              <a:ahLst/>
              <a:cxnLst/>
              <a:rect l="l" t="t" r="r" b="b"/>
              <a:pathLst>
                <a:path w="21539200" h="25400">
                  <a:moveTo>
                    <a:pt x="0" y="0"/>
                  </a:moveTo>
                  <a:lnTo>
                    <a:pt x="21539200" y="0"/>
                  </a:lnTo>
                  <a:lnTo>
                    <a:pt x="21539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20803" y="2381498"/>
            <a:ext cx="16131035" cy="177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500" b="1" spc="75">
                <a:solidFill>
                  <a:srgbClr val="D92D20"/>
                </a:solidFill>
                <a:latin typeface="Arial Bold"/>
                <a:ea typeface="Arial Bold"/>
                <a:cs typeface="Arial Bold"/>
                <a:sym typeface="Arial Bold"/>
              </a:rPr>
              <a:t>프랜차이즈 점포 수 컬럼 오류 — 발견 · 원인 · 해결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0803" y="2876798"/>
            <a:ext cx="5062223" cy="226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8"/>
              </a:lnSpc>
            </a:pPr>
            <a:r>
              <a:rPr lang="en-US" sz="1575" b="1">
                <a:solidFill>
                  <a:srgbClr val="D92D20"/>
                </a:solidFill>
                <a:latin typeface="Arial Bold"/>
                <a:ea typeface="Arial Bold"/>
                <a:cs typeface="Arial Bold"/>
                <a:sym typeface="Arial Bold"/>
              </a:rPr>
              <a:t>① 발견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0803" y="3077718"/>
            <a:ext cx="4736849" cy="1008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lang="en-US" sz="1725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“프랜차이즈 점포 수”가 “전체 점포 수”보다 큰 경우가 전체의 5% 가까이 — 프랜차이즈가 전체보다 많을 수 없는 말이 안 되는 값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134100" y="2679944"/>
            <a:ext cx="495300" cy="1622079"/>
            <a:chOff x="0" y="0"/>
            <a:chExt cx="660400" cy="21627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0400" cy="2162810"/>
            </a:xfrm>
            <a:custGeom>
              <a:avLst/>
              <a:gdLst/>
              <a:ahLst/>
              <a:cxnLst/>
              <a:rect l="l" t="t" r="r" b="b"/>
              <a:pathLst>
                <a:path w="660400" h="2162810">
                  <a:moveTo>
                    <a:pt x="0" y="0"/>
                  </a:moveTo>
                  <a:lnTo>
                    <a:pt x="660400" y="0"/>
                  </a:lnTo>
                  <a:lnTo>
                    <a:pt x="660400" y="2162810"/>
                  </a:lnTo>
                  <a:lnTo>
                    <a:pt x="0" y="21628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0478" r="-370478" b="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34100" y="2687088"/>
            <a:ext cx="495300" cy="1614935"/>
            <a:chOff x="0" y="0"/>
            <a:chExt cx="660400" cy="21532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60400" cy="2153247"/>
            </a:xfrm>
            <a:custGeom>
              <a:avLst/>
              <a:gdLst/>
              <a:ahLst/>
              <a:cxnLst/>
              <a:rect l="l" t="t" r="r" b="b"/>
              <a:pathLst>
                <a:path w="660400" h="2153247">
                  <a:moveTo>
                    <a:pt x="0" y="0"/>
                  </a:moveTo>
                  <a:lnTo>
                    <a:pt x="660400" y="0"/>
                  </a:lnTo>
                  <a:lnTo>
                    <a:pt x="660400" y="2153247"/>
                  </a:lnTo>
                  <a:lnTo>
                    <a:pt x="0" y="2153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8336" r="-36833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660400" cy="214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8"/>
                </a:lnSpc>
              </a:pPr>
              <a:r>
                <a:rPr lang="en-US" sz="1950" b="1">
                  <a:solidFill>
                    <a:srgbClr val="128A8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91300" y="2679944"/>
            <a:ext cx="9525" cy="1584008"/>
            <a:chOff x="0" y="0"/>
            <a:chExt cx="12700" cy="211201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700" cy="2112010"/>
            </a:xfrm>
            <a:custGeom>
              <a:avLst/>
              <a:gdLst/>
              <a:ahLst/>
              <a:cxnLst/>
              <a:rect l="l" t="t" r="r" b="b"/>
              <a:pathLst>
                <a:path w="12700" h="2112010">
                  <a:moveTo>
                    <a:pt x="0" y="0"/>
                  </a:moveTo>
                  <a:lnTo>
                    <a:pt x="12700" y="0"/>
                  </a:lnTo>
                  <a:lnTo>
                    <a:pt x="12700" y="2112010"/>
                  </a:lnTo>
                  <a:lnTo>
                    <a:pt x="0" y="211201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854828" y="2876798"/>
            <a:ext cx="5051746" cy="226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8"/>
              </a:lnSpc>
            </a:pPr>
            <a:r>
              <a:rPr lang="en-US" sz="1575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② 원인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54828" y="3077718"/>
            <a:ext cx="4727038" cy="70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lang="en-US" sz="1725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실제 개수가 아니라 “프랜차이즈 비율(%)”이 잘못 입력 — 비율 30%의 “30”이 그대로 점포 수 자리에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658600" y="2679944"/>
            <a:ext cx="495300" cy="1622079"/>
            <a:chOff x="0" y="0"/>
            <a:chExt cx="660400" cy="21627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0400" cy="2162810"/>
            </a:xfrm>
            <a:custGeom>
              <a:avLst/>
              <a:gdLst/>
              <a:ahLst/>
              <a:cxnLst/>
              <a:rect l="l" t="t" r="r" b="b"/>
              <a:pathLst>
                <a:path w="660400" h="2162810">
                  <a:moveTo>
                    <a:pt x="0" y="0"/>
                  </a:moveTo>
                  <a:lnTo>
                    <a:pt x="660400" y="0"/>
                  </a:lnTo>
                  <a:lnTo>
                    <a:pt x="660400" y="2162810"/>
                  </a:lnTo>
                  <a:lnTo>
                    <a:pt x="0" y="21628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0478" r="-370478" b="1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658600" y="2687088"/>
            <a:ext cx="495300" cy="1614935"/>
            <a:chOff x="0" y="0"/>
            <a:chExt cx="660400" cy="215324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60400" cy="2153247"/>
            </a:xfrm>
            <a:custGeom>
              <a:avLst/>
              <a:gdLst/>
              <a:ahLst/>
              <a:cxnLst/>
              <a:rect l="l" t="t" r="r" b="b"/>
              <a:pathLst>
                <a:path w="660400" h="2153247">
                  <a:moveTo>
                    <a:pt x="0" y="0"/>
                  </a:moveTo>
                  <a:lnTo>
                    <a:pt x="660400" y="0"/>
                  </a:lnTo>
                  <a:lnTo>
                    <a:pt x="660400" y="2153247"/>
                  </a:lnTo>
                  <a:lnTo>
                    <a:pt x="0" y="21532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8336" r="-36833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660400" cy="214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8"/>
                </a:lnSpc>
              </a:pPr>
              <a:r>
                <a:rPr lang="en-US" sz="1950" b="1">
                  <a:solidFill>
                    <a:srgbClr val="128A8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115800" y="2679944"/>
            <a:ext cx="9525" cy="1584008"/>
            <a:chOff x="0" y="0"/>
            <a:chExt cx="12700" cy="211201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700" cy="2112010"/>
            </a:xfrm>
            <a:custGeom>
              <a:avLst/>
              <a:gdLst/>
              <a:ahLst/>
              <a:cxnLst/>
              <a:rect l="l" t="t" r="r" b="b"/>
              <a:pathLst>
                <a:path w="12700" h="2112010">
                  <a:moveTo>
                    <a:pt x="0" y="0"/>
                  </a:moveTo>
                  <a:lnTo>
                    <a:pt x="12700" y="0"/>
                  </a:lnTo>
                  <a:lnTo>
                    <a:pt x="12700" y="2112010"/>
                  </a:lnTo>
                  <a:lnTo>
                    <a:pt x="0" y="211201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379328" y="2876798"/>
            <a:ext cx="5051746" cy="226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8"/>
              </a:lnSpc>
            </a:pPr>
            <a:r>
              <a:rPr lang="en-US" sz="1575" b="1">
                <a:solidFill>
                  <a:srgbClr val="1C6FD6"/>
                </a:solidFill>
                <a:latin typeface="Arial Bold"/>
                <a:ea typeface="Arial Bold"/>
                <a:cs typeface="Arial Bold"/>
                <a:sym typeface="Arial Bold"/>
              </a:rPr>
              <a:t>③ 해결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379328" y="3077718"/>
            <a:ext cx="4727038" cy="70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lang="en-US" sz="1725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비율을 다시 개수로 환산하는 계산을 거꾸로 적용해 실제 점포 수를 복원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47750" y="6157836"/>
            <a:ext cx="5270468" cy="9525"/>
            <a:chOff x="0" y="0"/>
            <a:chExt cx="7027291" cy="127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027291" cy="12700"/>
            </a:xfrm>
            <a:custGeom>
              <a:avLst/>
              <a:gdLst/>
              <a:ahLst/>
              <a:cxnLst/>
              <a:rect l="l" t="t" r="r" b="b"/>
              <a:pathLst>
                <a:path w="7027291" h="12700">
                  <a:moveTo>
                    <a:pt x="0" y="0"/>
                  </a:moveTo>
                  <a:lnTo>
                    <a:pt x="7027291" y="0"/>
                  </a:lnTo>
                  <a:lnTo>
                    <a:pt x="702729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47750" y="4530623"/>
            <a:ext cx="5270468" cy="38100"/>
            <a:chOff x="0" y="0"/>
            <a:chExt cx="7027291" cy="50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027291" cy="50800"/>
            </a:xfrm>
            <a:custGeom>
              <a:avLst/>
              <a:gdLst/>
              <a:ahLst/>
              <a:cxnLst/>
              <a:rect l="l" t="t" r="r" b="b"/>
              <a:pathLst>
                <a:path w="7027291" h="50800">
                  <a:moveTo>
                    <a:pt x="0" y="0"/>
                  </a:moveTo>
                  <a:lnTo>
                    <a:pt x="7027291" y="0"/>
                  </a:lnTo>
                  <a:lnTo>
                    <a:pt x="70272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C6B7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47750" y="4530623"/>
            <a:ext cx="9525" cy="1636776"/>
            <a:chOff x="0" y="0"/>
            <a:chExt cx="12700" cy="218236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700" cy="2182368"/>
            </a:xfrm>
            <a:custGeom>
              <a:avLst/>
              <a:gdLst/>
              <a:ahLst/>
              <a:cxnLst/>
              <a:rect l="l" t="t" r="r" b="b"/>
              <a:pathLst>
                <a:path w="12700" h="2182368">
                  <a:moveTo>
                    <a:pt x="0" y="0"/>
                  </a:moveTo>
                  <a:lnTo>
                    <a:pt x="12700" y="0"/>
                  </a:lnTo>
                  <a:lnTo>
                    <a:pt x="12700" y="2182368"/>
                  </a:lnTo>
                  <a:lnTo>
                    <a:pt x="0" y="218236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08674" y="4530623"/>
            <a:ext cx="9525" cy="1636776"/>
            <a:chOff x="0" y="0"/>
            <a:chExt cx="12700" cy="218236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700" cy="2182368"/>
            </a:xfrm>
            <a:custGeom>
              <a:avLst/>
              <a:gdLst/>
              <a:ahLst/>
              <a:cxnLst/>
              <a:rect l="l" t="t" r="r" b="b"/>
              <a:pathLst>
                <a:path w="12700" h="2182368">
                  <a:moveTo>
                    <a:pt x="0" y="0"/>
                  </a:moveTo>
                  <a:lnTo>
                    <a:pt x="12700" y="0"/>
                  </a:lnTo>
                  <a:lnTo>
                    <a:pt x="12700" y="2182368"/>
                  </a:lnTo>
                  <a:lnTo>
                    <a:pt x="0" y="218236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311278" y="4746527"/>
            <a:ext cx="5222824" cy="27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"/>
              </a:lnSpc>
            </a:pPr>
            <a:r>
              <a:rPr lang="en-US" sz="1725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다른 컬럼은 보수적으로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11278" y="4979365"/>
            <a:ext cx="4887230" cy="1000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165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개업 점포 수도 비슷한 값이 있었지만, 확신이 덜한 상태라 상식적으로 말이 안 되는 값만 상한선으로 눌러주는 보수적 방식만 적용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6508699" y="6157836"/>
            <a:ext cx="5270564" cy="9525"/>
            <a:chOff x="0" y="0"/>
            <a:chExt cx="7027418" cy="127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027418" cy="12700"/>
            </a:xfrm>
            <a:custGeom>
              <a:avLst/>
              <a:gdLst/>
              <a:ahLst/>
              <a:cxnLst/>
              <a:rect l="l" t="t" r="r" b="b"/>
              <a:pathLst>
                <a:path w="7027418" h="12700">
                  <a:moveTo>
                    <a:pt x="0" y="0"/>
                  </a:moveTo>
                  <a:lnTo>
                    <a:pt x="7027418" y="0"/>
                  </a:lnTo>
                  <a:lnTo>
                    <a:pt x="702741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508699" y="4530623"/>
            <a:ext cx="5270564" cy="38100"/>
            <a:chOff x="0" y="0"/>
            <a:chExt cx="7027418" cy="50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027418" cy="50800"/>
            </a:xfrm>
            <a:custGeom>
              <a:avLst/>
              <a:gdLst/>
              <a:ahLst/>
              <a:cxnLst/>
              <a:rect l="l" t="t" r="r" b="b"/>
              <a:pathLst>
                <a:path w="7027418" h="50800">
                  <a:moveTo>
                    <a:pt x="0" y="0"/>
                  </a:moveTo>
                  <a:lnTo>
                    <a:pt x="7027418" y="0"/>
                  </a:lnTo>
                  <a:lnTo>
                    <a:pt x="702741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508699" y="4530623"/>
            <a:ext cx="9525" cy="1636776"/>
            <a:chOff x="0" y="0"/>
            <a:chExt cx="12700" cy="218236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700" cy="2182368"/>
            </a:xfrm>
            <a:custGeom>
              <a:avLst/>
              <a:gdLst/>
              <a:ahLst/>
              <a:cxnLst/>
              <a:rect l="l" t="t" r="r" b="b"/>
              <a:pathLst>
                <a:path w="12700" h="2182368">
                  <a:moveTo>
                    <a:pt x="0" y="0"/>
                  </a:moveTo>
                  <a:lnTo>
                    <a:pt x="12700" y="0"/>
                  </a:lnTo>
                  <a:lnTo>
                    <a:pt x="12700" y="2182368"/>
                  </a:lnTo>
                  <a:lnTo>
                    <a:pt x="0" y="218236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769700" y="4530623"/>
            <a:ext cx="9525" cy="1636776"/>
            <a:chOff x="0" y="0"/>
            <a:chExt cx="12700" cy="218236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2700" cy="2182368"/>
            </a:xfrm>
            <a:custGeom>
              <a:avLst/>
              <a:gdLst/>
              <a:ahLst/>
              <a:cxnLst/>
              <a:rect l="l" t="t" r="r" b="b"/>
              <a:pathLst>
                <a:path w="12700" h="2182368">
                  <a:moveTo>
                    <a:pt x="0" y="0"/>
                  </a:moveTo>
                  <a:lnTo>
                    <a:pt x="12700" y="0"/>
                  </a:lnTo>
                  <a:lnTo>
                    <a:pt x="12700" y="2182368"/>
                  </a:lnTo>
                  <a:lnTo>
                    <a:pt x="0" y="218236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6772227" y="4746527"/>
            <a:ext cx="5222900" cy="27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"/>
              </a:lnSpc>
            </a:pPr>
            <a:r>
              <a:rPr lang="en-US" sz="1725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표본 크기 기준 적용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772227" y="4979365"/>
            <a:ext cx="4887306" cy="71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165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점포 수가 너무 적은(30개 미만) 상권은 비율 계산이 쉽게 흔들리므로 위험 판정 대상에서 제외 → 최종 </a:t>
            </a:r>
            <a:r>
              <a:rPr lang="en-US" sz="165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285개 </a:t>
            </a:r>
            <a:r>
              <a:rPr lang="en-US" sz="165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확정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1969725" y="6157836"/>
            <a:ext cx="5270468" cy="9525"/>
            <a:chOff x="0" y="0"/>
            <a:chExt cx="7027291" cy="127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7027291" cy="12700"/>
            </a:xfrm>
            <a:custGeom>
              <a:avLst/>
              <a:gdLst/>
              <a:ahLst/>
              <a:cxnLst/>
              <a:rect l="l" t="t" r="r" b="b"/>
              <a:pathLst>
                <a:path w="7027291" h="12700">
                  <a:moveTo>
                    <a:pt x="0" y="0"/>
                  </a:moveTo>
                  <a:lnTo>
                    <a:pt x="7027291" y="0"/>
                  </a:lnTo>
                  <a:lnTo>
                    <a:pt x="702729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969725" y="4530623"/>
            <a:ext cx="5270468" cy="38100"/>
            <a:chOff x="0" y="0"/>
            <a:chExt cx="7027291" cy="50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027291" cy="50800"/>
            </a:xfrm>
            <a:custGeom>
              <a:avLst/>
              <a:gdLst/>
              <a:ahLst/>
              <a:cxnLst/>
              <a:rect l="l" t="t" r="r" b="b"/>
              <a:pathLst>
                <a:path w="7027291" h="50800">
                  <a:moveTo>
                    <a:pt x="0" y="0"/>
                  </a:moveTo>
                  <a:lnTo>
                    <a:pt x="7027291" y="0"/>
                  </a:lnTo>
                  <a:lnTo>
                    <a:pt x="70272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C6B7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969725" y="4530623"/>
            <a:ext cx="9525" cy="1636776"/>
            <a:chOff x="0" y="0"/>
            <a:chExt cx="12700" cy="218236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700" cy="2182368"/>
            </a:xfrm>
            <a:custGeom>
              <a:avLst/>
              <a:gdLst/>
              <a:ahLst/>
              <a:cxnLst/>
              <a:rect l="l" t="t" r="r" b="b"/>
              <a:pathLst>
                <a:path w="12700" h="2182368">
                  <a:moveTo>
                    <a:pt x="0" y="0"/>
                  </a:moveTo>
                  <a:lnTo>
                    <a:pt x="12700" y="0"/>
                  </a:lnTo>
                  <a:lnTo>
                    <a:pt x="12700" y="2182368"/>
                  </a:lnTo>
                  <a:lnTo>
                    <a:pt x="0" y="218236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7230649" y="4530623"/>
            <a:ext cx="9525" cy="1636776"/>
            <a:chOff x="0" y="0"/>
            <a:chExt cx="12700" cy="218236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2700" cy="2182368"/>
            </a:xfrm>
            <a:custGeom>
              <a:avLst/>
              <a:gdLst/>
              <a:ahLst/>
              <a:cxnLst/>
              <a:rect l="l" t="t" r="r" b="b"/>
              <a:pathLst>
                <a:path w="12700" h="2182368">
                  <a:moveTo>
                    <a:pt x="0" y="0"/>
                  </a:moveTo>
                  <a:lnTo>
                    <a:pt x="12700" y="0"/>
                  </a:lnTo>
                  <a:lnTo>
                    <a:pt x="12700" y="2182368"/>
                  </a:lnTo>
                  <a:lnTo>
                    <a:pt x="0" y="218236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2233253" y="4746527"/>
            <a:ext cx="5222824" cy="27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"/>
              </a:lnSpc>
            </a:pPr>
            <a:r>
              <a:rPr lang="en-US" sz="1725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빈 값(결측치) 처리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233253" y="4979365"/>
            <a:ext cx="4887230" cy="707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165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주변 시설 데이터에서 값이 비어있는 경우는 해당 시설이 없음(0개)으로 간주해 0으로 채움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905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1303" y="825503"/>
            <a:ext cx="2817657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방법론 · 05 /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3153" y="1225553"/>
            <a:ext cx="17760953" cy="56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650" b="1" spc="-45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위험 상권을 어떻게 정의했는가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1991620"/>
            <a:ext cx="16192500" cy="19050"/>
            <a:chOff x="0" y="0"/>
            <a:chExt cx="21590000" cy="25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9416" y="2364286"/>
            <a:ext cx="5261705" cy="1916811"/>
            <a:chOff x="0" y="0"/>
            <a:chExt cx="7015607" cy="25557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15607" cy="2555748"/>
            </a:xfrm>
            <a:custGeom>
              <a:avLst/>
              <a:gdLst/>
              <a:ahLst/>
              <a:cxnLst/>
              <a:rect l="l" t="t" r="r" b="b"/>
              <a:pathLst>
                <a:path w="7015607" h="2555748">
                  <a:moveTo>
                    <a:pt x="0" y="0"/>
                  </a:moveTo>
                  <a:lnTo>
                    <a:pt x="7015607" y="0"/>
                  </a:lnTo>
                  <a:lnTo>
                    <a:pt x="7015607" y="2555748"/>
                  </a:lnTo>
                  <a:lnTo>
                    <a:pt x="0" y="25557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49" b="-3450"/>
              </a:stretch>
            </a:blipFill>
            <a:ln w="9525" cap="sq">
              <a:solidFill>
                <a:srgbClr val="D7DDE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43025" y="2648845"/>
            <a:ext cx="800290" cy="361950"/>
            <a:chOff x="0" y="0"/>
            <a:chExt cx="1067054" cy="482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7054" cy="482600"/>
            </a:xfrm>
            <a:custGeom>
              <a:avLst/>
              <a:gdLst/>
              <a:ahLst/>
              <a:cxnLst/>
              <a:rect l="l" t="t" r="r" b="b"/>
              <a:pathLst>
                <a:path w="1067054" h="482600">
                  <a:moveTo>
                    <a:pt x="0" y="0"/>
                  </a:moveTo>
                  <a:lnTo>
                    <a:pt x="1067054" y="0"/>
                  </a:lnTo>
                  <a:lnTo>
                    <a:pt x="1067054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01778" y="2759964"/>
            <a:ext cx="559022" cy="177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500" b="1" spc="8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KPI-1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8428" y="3150489"/>
            <a:ext cx="5069176" cy="378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55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순증감율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8428" y="3541909"/>
            <a:ext cx="5069176" cy="46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(개업 − 폐업) / 전체 점포 수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13090" y="2364286"/>
            <a:ext cx="5261705" cy="1916811"/>
            <a:chOff x="0" y="0"/>
            <a:chExt cx="7015607" cy="25557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15607" cy="2555748"/>
            </a:xfrm>
            <a:custGeom>
              <a:avLst/>
              <a:gdLst/>
              <a:ahLst/>
              <a:cxnLst/>
              <a:rect l="l" t="t" r="r" b="b"/>
              <a:pathLst>
                <a:path w="7015607" h="2555748">
                  <a:moveTo>
                    <a:pt x="0" y="0"/>
                  </a:moveTo>
                  <a:lnTo>
                    <a:pt x="7015607" y="0"/>
                  </a:lnTo>
                  <a:lnTo>
                    <a:pt x="7015607" y="2555748"/>
                  </a:lnTo>
                  <a:lnTo>
                    <a:pt x="0" y="25557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49" b="-3450"/>
              </a:stretch>
            </a:blipFill>
            <a:ln w="9525" cap="sq">
              <a:solidFill>
                <a:srgbClr val="D7DDE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16700" y="2648845"/>
            <a:ext cx="800290" cy="361950"/>
            <a:chOff x="0" y="0"/>
            <a:chExt cx="1067054" cy="482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7054" cy="482600"/>
            </a:xfrm>
            <a:custGeom>
              <a:avLst/>
              <a:gdLst/>
              <a:ahLst/>
              <a:cxnLst/>
              <a:rect l="l" t="t" r="r" b="b"/>
              <a:pathLst>
                <a:path w="1067054" h="482600">
                  <a:moveTo>
                    <a:pt x="0" y="0"/>
                  </a:moveTo>
                  <a:lnTo>
                    <a:pt x="1067054" y="0"/>
                  </a:lnTo>
                  <a:lnTo>
                    <a:pt x="1067054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975453" y="2759964"/>
            <a:ext cx="559022" cy="177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500" b="1" spc="8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KPI-2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42103" y="3150489"/>
            <a:ext cx="5069176" cy="378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55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폐업률 증감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42103" y="3541909"/>
            <a:ext cx="5069176" cy="46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이번 분기 폐업률 − 전분기 폐업률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986765" y="2364286"/>
            <a:ext cx="5261800" cy="1916811"/>
            <a:chOff x="0" y="0"/>
            <a:chExt cx="7015734" cy="25557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15734" cy="2555748"/>
            </a:xfrm>
            <a:custGeom>
              <a:avLst/>
              <a:gdLst/>
              <a:ahLst/>
              <a:cxnLst/>
              <a:rect l="l" t="t" r="r" b="b"/>
              <a:pathLst>
                <a:path w="7015734" h="2555748">
                  <a:moveTo>
                    <a:pt x="0" y="0"/>
                  </a:moveTo>
                  <a:lnTo>
                    <a:pt x="7015734" y="0"/>
                  </a:lnTo>
                  <a:lnTo>
                    <a:pt x="7015734" y="2555748"/>
                  </a:lnTo>
                  <a:lnTo>
                    <a:pt x="0" y="25557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50" b="-3451"/>
              </a:stretch>
            </a:blipFill>
            <a:ln w="9525" cap="sq">
              <a:solidFill>
                <a:srgbClr val="D7DDE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290374" y="2648845"/>
            <a:ext cx="800290" cy="361950"/>
            <a:chOff x="0" y="0"/>
            <a:chExt cx="1067054" cy="482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67054" cy="482600"/>
            </a:xfrm>
            <a:custGeom>
              <a:avLst/>
              <a:gdLst/>
              <a:ahLst/>
              <a:cxnLst/>
              <a:rect l="l" t="t" r="r" b="b"/>
              <a:pathLst>
                <a:path w="1067054" h="482600">
                  <a:moveTo>
                    <a:pt x="0" y="0"/>
                  </a:moveTo>
                  <a:lnTo>
                    <a:pt x="1067054" y="0"/>
                  </a:lnTo>
                  <a:lnTo>
                    <a:pt x="1067054" y="48260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449127" y="2759964"/>
            <a:ext cx="559022" cy="177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500" b="1" spc="8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KPI-3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15777" y="3150489"/>
            <a:ext cx="5069262" cy="378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55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프랜차이즈 침투율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15777" y="3541909"/>
            <a:ext cx="5069262" cy="46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프랜차이즈 점포 수 / 전체 점포 수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31081" y="4579963"/>
            <a:ext cx="16225838" cy="1965008"/>
            <a:chOff x="0" y="0"/>
            <a:chExt cx="21634450" cy="262001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634450" cy="2620010"/>
            </a:xfrm>
            <a:custGeom>
              <a:avLst/>
              <a:gdLst/>
              <a:ahLst/>
              <a:cxnLst/>
              <a:rect l="l" t="t" r="r" b="b"/>
              <a:pathLst>
                <a:path w="21634450" h="2620010">
                  <a:moveTo>
                    <a:pt x="0" y="0"/>
                  </a:moveTo>
                  <a:lnTo>
                    <a:pt x="21634450" y="0"/>
                  </a:lnTo>
                  <a:lnTo>
                    <a:pt x="21634450" y="2620010"/>
                  </a:lnTo>
                  <a:lnTo>
                    <a:pt x="0" y="26200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783" b="-110783"/>
              </a:stretch>
            </a:blipFill>
            <a:ln w="19050" cap="sq">
              <a:solidFill>
                <a:srgbClr val="10243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35103" y="4964935"/>
            <a:ext cx="13192763" cy="168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575" b="1" spc="156">
                <a:solidFill>
                  <a:srgbClr val="D92D20"/>
                </a:solidFill>
                <a:latin typeface="Arial Bold"/>
                <a:ea typeface="Arial Bold"/>
                <a:cs typeface="Arial Bold"/>
                <a:sym typeface="Arial Bold"/>
              </a:rPr>
              <a:t>위험 판정 (절대 기준)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35103" y="5222110"/>
            <a:ext cx="13192763" cy="50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300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순증감율 &lt; 0% AND 폐업률 증감 &gt; 0%p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5103" y="5755510"/>
            <a:ext cx="12357097" cy="41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025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“점포가 실제로 줄고 있고, 그 감소가 가속화되는 중”인 상권만 위험군 · 최소 표본(전체 점포 수 ≥ 30) 필터까지 적용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3894632" y="4615682"/>
            <a:ext cx="3326568" cy="1893570"/>
            <a:chOff x="0" y="0"/>
            <a:chExt cx="4435424" cy="25247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435475" cy="2524760"/>
            </a:xfrm>
            <a:custGeom>
              <a:avLst/>
              <a:gdLst/>
              <a:ahLst/>
              <a:cxnLst/>
              <a:rect l="l" t="t" r="r" b="b"/>
              <a:pathLst>
                <a:path w="4435475" h="2524760">
                  <a:moveTo>
                    <a:pt x="0" y="0"/>
                  </a:moveTo>
                  <a:lnTo>
                    <a:pt x="4435475" y="0"/>
                  </a:lnTo>
                  <a:lnTo>
                    <a:pt x="4435475" y="2524760"/>
                  </a:lnTo>
                  <a:lnTo>
                    <a:pt x="0" y="252476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4160503" y="5141147"/>
            <a:ext cx="2515257" cy="776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9"/>
              </a:lnSpc>
            </a:pPr>
            <a:r>
              <a:rPr lang="en-US" sz="6000" b="1">
                <a:solidFill>
                  <a:srgbClr val="FF6B5E"/>
                </a:solidFill>
                <a:latin typeface="Arial Bold"/>
                <a:ea typeface="Arial Bold"/>
                <a:cs typeface="Arial Bold"/>
                <a:sym typeface="Arial Bold"/>
              </a:rPr>
              <a:t>285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074550" y="5923731"/>
            <a:ext cx="2966723" cy="40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950">
                <a:solidFill>
                  <a:srgbClr val="8FE3E5"/>
                </a:solidFill>
                <a:latin typeface="Arial"/>
                <a:ea typeface="Arial"/>
                <a:cs typeface="Arial"/>
                <a:sym typeface="Arial"/>
              </a:rPr>
              <a:t>개 위험 상권 확정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905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47750" y="1991620"/>
            <a:ext cx="16192500" cy="19050"/>
            <a:chOff x="0" y="0"/>
            <a:chExt cx="21590000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8577" y="3186884"/>
            <a:ext cx="7663634" cy="377114"/>
            <a:chOff x="0" y="0"/>
            <a:chExt cx="10218179" cy="5028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18166" cy="502793"/>
            </a:xfrm>
            <a:custGeom>
              <a:avLst/>
              <a:gdLst/>
              <a:ahLst/>
              <a:cxnLst/>
              <a:rect l="l" t="t" r="r" b="b"/>
              <a:pathLst>
                <a:path w="10218166" h="502793">
                  <a:moveTo>
                    <a:pt x="0" y="0"/>
                  </a:moveTo>
                  <a:lnTo>
                    <a:pt x="10218166" y="0"/>
                  </a:lnTo>
                  <a:lnTo>
                    <a:pt x="10218166" y="502793"/>
                  </a:lnTo>
                  <a:lnTo>
                    <a:pt x="0" y="502793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88577" y="3186884"/>
            <a:ext cx="7663634" cy="377114"/>
            <a:chOff x="0" y="0"/>
            <a:chExt cx="10218179" cy="5028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18166" cy="502793"/>
            </a:xfrm>
            <a:custGeom>
              <a:avLst/>
              <a:gdLst/>
              <a:ahLst/>
              <a:cxnLst/>
              <a:rect l="l" t="t" r="r" b="b"/>
              <a:pathLst>
                <a:path w="10218166" h="502793">
                  <a:moveTo>
                    <a:pt x="0" y="0"/>
                  </a:moveTo>
                  <a:lnTo>
                    <a:pt x="10218166" y="0"/>
                  </a:lnTo>
                  <a:lnTo>
                    <a:pt x="10218166" y="502793"/>
                  </a:lnTo>
                  <a:lnTo>
                    <a:pt x="0" y="502793"/>
                  </a:lnTo>
                  <a:close/>
                </a:path>
              </a:pathLst>
            </a:custGeom>
            <a:solidFill>
              <a:srgbClr val="D92D20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788577" y="3741458"/>
            <a:ext cx="7663634" cy="377114"/>
            <a:chOff x="0" y="0"/>
            <a:chExt cx="10218179" cy="5028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18166" cy="502793"/>
            </a:xfrm>
            <a:custGeom>
              <a:avLst/>
              <a:gdLst/>
              <a:ahLst/>
              <a:cxnLst/>
              <a:rect l="l" t="t" r="r" b="b"/>
              <a:pathLst>
                <a:path w="10218166" h="502793">
                  <a:moveTo>
                    <a:pt x="0" y="0"/>
                  </a:moveTo>
                  <a:lnTo>
                    <a:pt x="10218166" y="0"/>
                  </a:lnTo>
                  <a:lnTo>
                    <a:pt x="10218166" y="502793"/>
                  </a:lnTo>
                  <a:lnTo>
                    <a:pt x="0" y="502793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788577" y="3741458"/>
            <a:ext cx="7280396" cy="377114"/>
            <a:chOff x="0" y="0"/>
            <a:chExt cx="9707194" cy="5028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707245" cy="502793"/>
            </a:xfrm>
            <a:custGeom>
              <a:avLst/>
              <a:gdLst/>
              <a:ahLst/>
              <a:cxnLst/>
              <a:rect l="l" t="t" r="r" b="b"/>
              <a:pathLst>
                <a:path w="9707245" h="502793">
                  <a:moveTo>
                    <a:pt x="0" y="0"/>
                  </a:moveTo>
                  <a:lnTo>
                    <a:pt x="9707245" y="0"/>
                  </a:lnTo>
                  <a:lnTo>
                    <a:pt x="9707245" y="502793"/>
                  </a:lnTo>
                  <a:lnTo>
                    <a:pt x="0" y="502793"/>
                  </a:lnTo>
                  <a:close/>
                </a:path>
              </a:pathLst>
            </a:custGeom>
            <a:solidFill>
              <a:srgbClr val="E05A4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88577" y="4296032"/>
            <a:ext cx="7663634" cy="377114"/>
            <a:chOff x="0" y="0"/>
            <a:chExt cx="10218179" cy="5028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18166" cy="502793"/>
            </a:xfrm>
            <a:custGeom>
              <a:avLst/>
              <a:gdLst/>
              <a:ahLst/>
              <a:cxnLst/>
              <a:rect l="l" t="t" r="r" b="b"/>
              <a:pathLst>
                <a:path w="10218166" h="502793">
                  <a:moveTo>
                    <a:pt x="0" y="0"/>
                  </a:moveTo>
                  <a:lnTo>
                    <a:pt x="10218166" y="0"/>
                  </a:lnTo>
                  <a:lnTo>
                    <a:pt x="10218166" y="502793"/>
                  </a:lnTo>
                  <a:lnTo>
                    <a:pt x="0" y="502793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788577" y="4296032"/>
            <a:ext cx="6744033" cy="377114"/>
            <a:chOff x="0" y="0"/>
            <a:chExt cx="8992044" cy="5028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991981" cy="502793"/>
            </a:xfrm>
            <a:custGeom>
              <a:avLst/>
              <a:gdLst/>
              <a:ahLst/>
              <a:cxnLst/>
              <a:rect l="l" t="t" r="r" b="b"/>
              <a:pathLst>
                <a:path w="8991981" h="502793">
                  <a:moveTo>
                    <a:pt x="0" y="0"/>
                  </a:moveTo>
                  <a:lnTo>
                    <a:pt x="8991981" y="0"/>
                  </a:lnTo>
                  <a:lnTo>
                    <a:pt x="8991981" y="502793"/>
                  </a:lnTo>
                  <a:lnTo>
                    <a:pt x="0" y="502793"/>
                  </a:lnTo>
                  <a:close/>
                </a:path>
              </a:pathLst>
            </a:custGeom>
            <a:solidFill>
              <a:srgbClr val="E97B71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20064" y="4961515"/>
            <a:ext cx="7298331" cy="377114"/>
            <a:chOff x="0" y="0"/>
            <a:chExt cx="9731108" cy="5028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731121" cy="502793"/>
            </a:xfrm>
            <a:custGeom>
              <a:avLst/>
              <a:gdLst/>
              <a:ahLst/>
              <a:cxnLst/>
              <a:rect l="l" t="t" r="r" b="b"/>
              <a:pathLst>
                <a:path w="9731121" h="502793">
                  <a:moveTo>
                    <a:pt x="0" y="0"/>
                  </a:moveTo>
                  <a:lnTo>
                    <a:pt x="9731121" y="0"/>
                  </a:lnTo>
                  <a:lnTo>
                    <a:pt x="9731121" y="502793"/>
                  </a:lnTo>
                  <a:lnTo>
                    <a:pt x="0" y="502793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720064" y="4961515"/>
            <a:ext cx="5984415" cy="377114"/>
            <a:chOff x="0" y="0"/>
            <a:chExt cx="7979220" cy="50281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979156" cy="502793"/>
            </a:xfrm>
            <a:custGeom>
              <a:avLst/>
              <a:gdLst/>
              <a:ahLst/>
              <a:cxnLst/>
              <a:rect l="l" t="t" r="r" b="b"/>
              <a:pathLst>
                <a:path w="7979156" h="502793">
                  <a:moveTo>
                    <a:pt x="0" y="0"/>
                  </a:moveTo>
                  <a:lnTo>
                    <a:pt x="7979156" y="0"/>
                  </a:lnTo>
                  <a:lnTo>
                    <a:pt x="7979156" y="502793"/>
                  </a:lnTo>
                  <a:lnTo>
                    <a:pt x="0" y="502793"/>
                  </a:lnTo>
                  <a:close/>
                </a:path>
              </a:pathLst>
            </a:custGeom>
            <a:solidFill>
              <a:srgbClr val="F0968D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788577" y="5737917"/>
            <a:ext cx="7663634" cy="377114"/>
            <a:chOff x="0" y="0"/>
            <a:chExt cx="10218179" cy="5028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18166" cy="502793"/>
            </a:xfrm>
            <a:custGeom>
              <a:avLst/>
              <a:gdLst/>
              <a:ahLst/>
              <a:cxnLst/>
              <a:rect l="l" t="t" r="r" b="b"/>
              <a:pathLst>
                <a:path w="10218166" h="502793">
                  <a:moveTo>
                    <a:pt x="0" y="0"/>
                  </a:moveTo>
                  <a:lnTo>
                    <a:pt x="10218166" y="0"/>
                  </a:lnTo>
                  <a:lnTo>
                    <a:pt x="10218166" y="502793"/>
                  </a:lnTo>
                  <a:lnTo>
                    <a:pt x="0" y="502793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788577" y="5737917"/>
            <a:ext cx="6130766" cy="377114"/>
            <a:chOff x="0" y="0"/>
            <a:chExt cx="8174355" cy="5028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74355" cy="502793"/>
            </a:xfrm>
            <a:custGeom>
              <a:avLst/>
              <a:gdLst/>
              <a:ahLst/>
              <a:cxnLst/>
              <a:rect l="l" t="t" r="r" b="b"/>
              <a:pathLst>
                <a:path w="8174355" h="502793">
                  <a:moveTo>
                    <a:pt x="0" y="0"/>
                  </a:moveTo>
                  <a:lnTo>
                    <a:pt x="8174355" y="0"/>
                  </a:lnTo>
                  <a:lnTo>
                    <a:pt x="8174355" y="502793"/>
                  </a:lnTo>
                  <a:lnTo>
                    <a:pt x="0" y="502793"/>
                  </a:lnTo>
                  <a:close/>
                </a:path>
              </a:pathLst>
            </a:custGeom>
            <a:solidFill>
              <a:srgbClr val="F4A89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73153" y="6536503"/>
            <a:ext cx="11138002" cy="11087"/>
            <a:chOff x="0" y="0"/>
            <a:chExt cx="14850669" cy="147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850618" cy="14732"/>
            </a:xfrm>
            <a:custGeom>
              <a:avLst/>
              <a:gdLst/>
              <a:ahLst/>
              <a:cxnLst/>
              <a:rect l="l" t="t" r="r" b="b"/>
              <a:pathLst>
                <a:path w="14850618" h="14732">
                  <a:moveTo>
                    <a:pt x="0" y="0"/>
                  </a:moveTo>
                  <a:lnTo>
                    <a:pt x="14850618" y="0"/>
                  </a:lnTo>
                  <a:lnTo>
                    <a:pt x="14850618" y="14732"/>
                  </a:lnTo>
                  <a:lnTo>
                    <a:pt x="0" y="14732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19568" y="2769660"/>
            <a:ext cx="12158986" cy="271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7"/>
              </a:lnSpc>
            </a:pPr>
            <a:r>
              <a:rPr lang="en-US" sz="1920" b="1" spc="152">
                <a:solidFill>
                  <a:srgbClr val="D92D20"/>
                </a:solidFill>
                <a:latin typeface="Arial Bold"/>
                <a:ea typeface="Arial Bold"/>
                <a:cs typeface="Arial Bold"/>
                <a:sym typeface="Arial Bold"/>
              </a:rPr>
              <a:t>위험 비율 상위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11303" y="825503"/>
            <a:ext cx="3319786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현황 진단 · 06 / 13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3153" y="1225553"/>
            <a:ext cx="17760953" cy="56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650" b="1" spc="-45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자치구별 위험 비율, 최대 2배 이상 격차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9568" y="3293374"/>
            <a:ext cx="1483385" cy="31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2358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동작구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86399" y="3220993"/>
            <a:ext cx="1526896" cy="357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32"/>
              </a:lnSpc>
            </a:pPr>
            <a:r>
              <a:rPr lang="en-US" sz="2619" b="1">
                <a:solidFill>
                  <a:srgbClr val="D92D20"/>
                </a:solidFill>
                <a:latin typeface="Arial Bold"/>
                <a:ea typeface="Arial Bold"/>
                <a:cs typeface="Arial Bold"/>
                <a:sym typeface="Arial Bold"/>
              </a:rPr>
              <a:t>26.3%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19568" y="3847948"/>
            <a:ext cx="1483385" cy="31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2358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강동구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86399" y="3753221"/>
            <a:ext cx="1526896" cy="357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32"/>
              </a:lnSpc>
            </a:pPr>
            <a:r>
              <a:rPr lang="en-US" sz="2619" b="1">
                <a:solidFill>
                  <a:srgbClr val="D92D20"/>
                </a:solidFill>
                <a:latin typeface="Arial Bold"/>
                <a:ea typeface="Arial Bold"/>
                <a:cs typeface="Arial Bold"/>
                <a:sym typeface="Arial Bold"/>
              </a:rPr>
              <a:t>25.0%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19568" y="4402522"/>
            <a:ext cx="1483385" cy="31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2358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양천구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86399" y="4330141"/>
            <a:ext cx="1526896" cy="357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32"/>
              </a:lnSpc>
            </a:pPr>
            <a:r>
              <a:rPr lang="en-US" sz="2619" b="1">
                <a:solidFill>
                  <a:srgbClr val="C9362B"/>
                </a:solidFill>
                <a:latin typeface="Arial Bold"/>
                <a:ea typeface="Arial Bold"/>
                <a:cs typeface="Arial Bold"/>
                <a:sym typeface="Arial Bold"/>
              </a:rPr>
              <a:t>23.2%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9568" y="4918272"/>
            <a:ext cx="1414872" cy="31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2358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구로·송파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52555" y="4995624"/>
            <a:ext cx="1960759" cy="357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32"/>
              </a:lnSpc>
            </a:pPr>
            <a:r>
              <a:rPr lang="en-US" sz="2619" b="1">
                <a:solidFill>
                  <a:srgbClr val="C9362B"/>
                </a:solidFill>
                <a:latin typeface="Arial Bold"/>
                <a:ea typeface="Arial Bold"/>
                <a:cs typeface="Arial Bold"/>
                <a:sym typeface="Arial Bold"/>
              </a:rPr>
              <a:t>21.4~21.7%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19568" y="5694674"/>
            <a:ext cx="1483385" cy="31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2358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서대문구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586399" y="5772036"/>
            <a:ext cx="1526896" cy="357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32"/>
              </a:lnSpc>
            </a:pPr>
            <a:r>
              <a:rPr lang="en-US" sz="2619" b="1">
                <a:solidFill>
                  <a:srgbClr val="C9362B"/>
                </a:solidFill>
                <a:latin typeface="Arial Bold"/>
                <a:ea typeface="Arial Bold"/>
                <a:cs typeface="Arial Bold"/>
                <a:sym typeface="Arial Bold"/>
              </a:rPr>
              <a:t>21.0%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19568" y="6671910"/>
            <a:ext cx="11379327" cy="515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27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하위(건강): </a:t>
            </a:r>
            <a:r>
              <a:rPr lang="en-US" sz="2270" b="1">
                <a:solidFill>
                  <a:srgbClr val="1C6FD6"/>
                </a:solidFill>
                <a:latin typeface="Arial Bold"/>
                <a:ea typeface="Arial Bold"/>
                <a:cs typeface="Arial Bold"/>
                <a:sym typeface="Arial Bold"/>
              </a:rPr>
              <a:t>금천구·중구·용산구 </a:t>
            </a:r>
            <a:r>
              <a:rPr lang="en-US" sz="227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등 자치구 간 지원 우선순위를 명확히 나눌 근거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524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BB7B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1303" y="787403"/>
            <a:ext cx="2983220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5FD0D2"/>
                </a:solidFill>
                <a:latin typeface="Arial Bold"/>
                <a:ea typeface="Arial Bold"/>
                <a:cs typeface="Arial Bold"/>
                <a:sym typeface="Arial Bold"/>
              </a:rPr>
              <a:t>핵심 발견 · 07 /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3153" y="1168403"/>
            <a:ext cx="17760953" cy="602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950" b="1" spc="-7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예상과 달랐다 — 가장 위험한 건 “발달상권”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1968179"/>
            <a:ext cx="16192500" cy="19050"/>
            <a:chOff x="0" y="0"/>
            <a:chExt cx="21590000" cy="25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84A6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1081" y="2275361"/>
            <a:ext cx="5367338" cy="7266337"/>
            <a:chOff x="0" y="0"/>
            <a:chExt cx="7156450" cy="96884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56450" cy="9688449"/>
            </a:xfrm>
            <a:custGeom>
              <a:avLst/>
              <a:gdLst/>
              <a:ahLst/>
              <a:cxnLst/>
              <a:rect l="l" t="t" r="r" b="b"/>
              <a:pathLst>
                <a:path w="7156450" h="9688449">
                  <a:moveTo>
                    <a:pt x="0" y="0"/>
                  </a:moveTo>
                  <a:lnTo>
                    <a:pt x="7156450" y="0"/>
                  </a:lnTo>
                  <a:lnTo>
                    <a:pt x="7156450" y="9688449"/>
                  </a:lnTo>
                  <a:lnTo>
                    <a:pt x="0" y="96884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3819" r="-123818"/>
              </a:stretch>
            </a:blipFill>
            <a:ln w="19050" cap="sq">
              <a:solidFill>
                <a:srgbClr val="2BB7B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73203" y="4466654"/>
            <a:ext cx="4936493" cy="397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025">
                <a:solidFill>
                  <a:srgbClr val="8FE3E5"/>
                </a:solidFill>
                <a:latin typeface="Arial"/>
                <a:ea typeface="Arial"/>
                <a:cs typeface="Arial"/>
                <a:sym typeface="Arial"/>
              </a:rPr>
              <a:t>발달상권 위험 비율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4782" y="5310549"/>
            <a:ext cx="4936493" cy="89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44"/>
              </a:lnSpc>
            </a:pPr>
            <a:r>
              <a:rPr lang="en-US" sz="12600" b="1">
                <a:solidFill>
                  <a:srgbClr val="FF6B5E"/>
                </a:solidFill>
                <a:latin typeface="Arial Bold"/>
                <a:ea typeface="Arial Bold"/>
                <a:cs typeface="Arial Bold"/>
                <a:sym typeface="Arial Bold"/>
              </a:rPr>
              <a:t>22.9%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6940077"/>
            <a:ext cx="4936493" cy="45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2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4개 상권 구분 중 </a:t>
            </a:r>
            <a:r>
              <a:rPr lang="en-US" sz="2250" b="1">
                <a:solidFill>
                  <a:srgbClr val="FF6B5E"/>
                </a:solidFill>
                <a:latin typeface="Arial Bold"/>
                <a:ea typeface="Arial Bold"/>
                <a:cs typeface="Arial Bold"/>
                <a:sym typeface="Arial Bold"/>
              </a:rPr>
              <a:t>최고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1926" y="7647584"/>
            <a:ext cx="4936493" cy="471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800">
                <a:solidFill>
                  <a:srgbClr val="9FB2C7"/>
                </a:solidFill>
                <a:latin typeface="Arial"/>
                <a:ea typeface="Arial"/>
                <a:cs typeface="Arial"/>
                <a:sym typeface="Arial"/>
              </a:rPr>
              <a:t>골목상권·전통시장이 더 취약할 거란 예상과 반대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02453" y="3508429"/>
            <a:ext cx="11348723" cy="31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2"/>
              </a:lnSpc>
            </a:pPr>
            <a:r>
              <a:rPr lang="en-US" sz="1800" b="1">
                <a:solidFill>
                  <a:srgbClr val="8FE3E5"/>
                </a:solidFill>
                <a:latin typeface="Arial Bold"/>
                <a:ea typeface="Arial Bold"/>
                <a:cs typeface="Arial Bold"/>
                <a:sym typeface="Arial Bold"/>
              </a:rPr>
              <a:t>순증감율, 4개 분기 내내 구조적 하락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0057" y="5078111"/>
            <a:ext cx="2641921" cy="31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3000" b="1">
                <a:solidFill>
                  <a:srgbClr val="F4A89F"/>
                </a:solidFill>
                <a:latin typeface="Arial Bold"/>
                <a:ea typeface="Arial Bold"/>
                <a:cs typeface="Arial Bold"/>
                <a:sym typeface="Arial Bold"/>
              </a:rPr>
              <a:t>-1.2%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086725" y="5490867"/>
            <a:ext cx="28575" cy="571500"/>
            <a:chOff x="0" y="0"/>
            <a:chExt cx="38100" cy="762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" cy="762000"/>
            </a:xfrm>
            <a:custGeom>
              <a:avLst/>
              <a:gdLst/>
              <a:ahLst/>
              <a:cxnLst/>
              <a:rect l="l" t="t" r="r" b="b"/>
              <a:pathLst>
                <a:path w="38100" h="7620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A5A7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780057" y="6183011"/>
            <a:ext cx="2641921" cy="1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"/>
              </a:lnSpc>
            </a:pPr>
            <a:r>
              <a:rPr lang="en-US" sz="1650">
                <a:solidFill>
                  <a:srgbClr val="6F88A3"/>
                </a:solidFill>
                <a:latin typeface="Arial"/>
                <a:ea typeface="Arial"/>
                <a:cs typeface="Arial"/>
                <a:sym typeface="Arial"/>
              </a:rPr>
              <a:t>1Q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18482" y="4392311"/>
            <a:ext cx="2641921" cy="31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3000" b="1">
                <a:solidFill>
                  <a:srgbClr val="F07F73"/>
                </a:solidFill>
                <a:latin typeface="Arial Bold"/>
                <a:ea typeface="Arial Bold"/>
                <a:cs typeface="Arial Bold"/>
                <a:sym typeface="Arial Bold"/>
              </a:rPr>
              <a:t>-2.6%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725150" y="4805067"/>
            <a:ext cx="28575" cy="1257300"/>
            <a:chOff x="0" y="0"/>
            <a:chExt cx="38100" cy="1676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100" cy="1676400"/>
            </a:xfrm>
            <a:custGeom>
              <a:avLst/>
              <a:gdLst/>
              <a:ahLst/>
              <a:cxnLst/>
              <a:rect l="l" t="t" r="r" b="b"/>
              <a:pathLst>
                <a:path w="38100" h="1676400">
                  <a:moveTo>
                    <a:pt x="0" y="0"/>
                  </a:moveTo>
                  <a:lnTo>
                    <a:pt x="38100" y="0"/>
                  </a:lnTo>
                  <a:lnTo>
                    <a:pt x="381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3A5A7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418482" y="6183011"/>
            <a:ext cx="2641921" cy="1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"/>
              </a:lnSpc>
            </a:pPr>
            <a:r>
              <a:rPr lang="en-US" sz="1650">
                <a:solidFill>
                  <a:srgbClr val="6F88A3"/>
                </a:solidFill>
                <a:latin typeface="Arial"/>
                <a:ea typeface="Arial"/>
                <a:cs typeface="Arial"/>
                <a:sym typeface="Arial"/>
              </a:rPr>
              <a:t>2Q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56907" y="4697111"/>
            <a:ext cx="2641921" cy="31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3000" b="1">
                <a:solidFill>
                  <a:srgbClr val="F07F73"/>
                </a:solidFill>
                <a:latin typeface="Arial Bold"/>
                <a:ea typeface="Arial Bold"/>
                <a:cs typeface="Arial Bold"/>
                <a:sym typeface="Arial Bold"/>
              </a:rPr>
              <a:t>-2.0%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363575" y="5109867"/>
            <a:ext cx="28575" cy="952500"/>
            <a:chOff x="0" y="0"/>
            <a:chExt cx="38100" cy="127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100" cy="1270000"/>
            </a:xfrm>
            <a:custGeom>
              <a:avLst/>
              <a:gdLst/>
              <a:ahLst/>
              <a:cxnLst/>
              <a:rect l="l" t="t" r="r" b="b"/>
              <a:pathLst>
                <a:path w="38100" h="1270000">
                  <a:moveTo>
                    <a:pt x="0" y="0"/>
                  </a:moveTo>
                  <a:lnTo>
                    <a:pt x="38100" y="0"/>
                  </a:lnTo>
                  <a:lnTo>
                    <a:pt x="381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3A5A7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056907" y="6183011"/>
            <a:ext cx="2641921" cy="1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"/>
              </a:lnSpc>
            </a:pPr>
            <a:r>
              <a:rPr lang="en-US" sz="1650">
                <a:solidFill>
                  <a:srgbClr val="6F88A3"/>
                </a:solidFill>
                <a:latin typeface="Arial"/>
                <a:ea typeface="Arial"/>
                <a:cs typeface="Arial"/>
                <a:sym typeface="Arial"/>
              </a:rPr>
              <a:t>3Q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695332" y="4030361"/>
            <a:ext cx="2641921" cy="36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6"/>
              </a:lnSpc>
            </a:pPr>
            <a:r>
              <a:rPr lang="en-US" sz="3450" b="1">
                <a:solidFill>
                  <a:srgbClr val="FF6B5E"/>
                </a:solidFill>
                <a:latin typeface="Arial Bold"/>
                <a:ea typeface="Arial Bold"/>
                <a:cs typeface="Arial Bold"/>
                <a:sym typeface="Arial Bold"/>
              </a:rPr>
              <a:t>-3.2%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6002000" y="4500267"/>
            <a:ext cx="28575" cy="1562100"/>
            <a:chOff x="0" y="0"/>
            <a:chExt cx="38100" cy="208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100" cy="2082800"/>
            </a:xfrm>
            <a:custGeom>
              <a:avLst/>
              <a:gdLst/>
              <a:ahLst/>
              <a:cxnLst/>
              <a:rect l="l" t="t" r="r" b="b"/>
              <a:pathLst>
                <a:path w="38100" h="2082800">
                  <a:moveTo>
                    <a:pt x="0" y="0"/>
                  </a:moveTo>
                  <a:lnTo>
                    <a:pt x="38100" y="0"/>
                  </a:lnTo>
                  <a:lnTo>
                    <a:pt x="38100" y="2082800"/>
                  </a:lnTo>
                  <a:lnTo>
                    <a:pt x="0" y="2082800"/>
                  </a:lnTo>
                  <a:close/>
                </a:path>
              </a:pathLst>
            </a:custGeom>
            <a:solidFill>
              <a:srgbClr val="FF6B5E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4695332" y="6183011"/>
            <a:ext cx="2641921" cy="1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"/>
              </a:lnSpc>
            </a:pPr>
            <a:r>
              <a:rPr lang="en-US" sz="1650">
                <a:solidFill>
                  <a:srgbClr val="8FE3E5"/>
                </a:solidFill>
                <a:latin typeface="Arial"/>
                <a:ea typeface="Arial"/>
                <a:cs typeface="Arial"/>
                <a:sym typeface="Arial"/>
              </a:rPr>
              <a:t>4Q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02453" y="6544961"/>
            <a:ext cx="10623299" cy="818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50">
                <a:solidFill>
                  <a:srgbClr val="CDD9E6"/>
                </a:solidFill>
                <a:latin typeface="Arial"/>
                <a:ea typeface="Arial"/>
                <a:cs typeface="Arial"/>
                <a:sym typeface="Arial"/>
              </a:rPr>
              <a:t>변동성(표준편차) 문제도, 프랜차이즈 침투율 상승 때문도 아님 — </a:t>
            </a:r>
            <a:r>
              <a:rPr lang="en-US" sz="19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위험군 1.90% vs 비위험군 1.99% </a:t>
            </a:r>
            <a:r>
              <a:rPr lang="en-US" sz="1950">
                <a:solidFill>
                  <a:srgbClr val="CDD9E6"/>
                </a:solidFill>
                <a:latin typeface="Arial"/>
                <a:ea typeface="Arial"/>
                <a:cs typeface="Arial"/>
                <a:sym typeface="Arial"/>
              </a:rPr>
              <a:t>, 차이 없음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877050" y="7484421"/>
            <a:ext cx="10363200" cy="924182"/>
            <a:chOff x="0" y="0"/>
            <a:chExt cx="13817600" cy="123224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817600" cy="1232281"/>
            </a:xfrm>
            <a:custGeom>
              <a:avLst/>
              <a:gdLst/>
              <a:ahLst/>
              <a:cxnLst/>
              <a:rect l="l" t="t" r="r" b="b"/>
              <a:pathLst>
                <a:path w="13817600" h="1232281">
                  <a:moveTo>
                    <a:pt x="0" y="0"/>
                  </a:moveTo>
                  <a:lnTo>
                    <a:pt x="13817600" y="0"/>
                  </a:lnTo>
                  <a:lnTo>
                    <a:pt x="13817600" y="1232281"/>
                  </a:lnTo>
                  <a:lnTo>
                    <a:pt x="0" y="1232281"/>
                  </a:lnTo>
                  <a:close/>
                </a:path>
              </a:pathLst>
            </a:custGeom>
            <a:solidFill>
              <a:srgbClr val="2BB7B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169153" y="7700315"/>
            <a:ext cx="10089899" cy="37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62A2B"/>
                </a:solidFill>
                <a:latin typeface="Arial Bold"/>
                <a:ea typeface="Arial Bold"/>
                <a:cs typeface="Arial Bold"/>
                <a:sym typeface="Arial Bold"/>
              </a:rPr>
              <a:t>정책 시사점 — 발달상권은 위험 임계값 미달이어도 전수 모니터링 대상으로 별도 지정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905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1303" y="825503"/>
            <a:ext cx="3165262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대시보드 · 08 /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3153" y="1225553"/>
            <a:ext cx="17760953" cy="56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650" b="1" spc="-45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화면1 — 자치구 단위 현황 진단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1991620"/>
            <a:ext cx="16192500" cy="19050"/>
            <a:chOff x="0" y="0"/>
            <a:chExt cx="21590000" cy="25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73153" y="3315786"/>
            <a:ext cx="365970" cy="24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2354" b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0242" y="3056372"/>
            <a:ext cx="12583335" cy="112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8"/>
              </a:lnSpc>
            </a:pPr>
            <a:r>
              <a:rPr lang="en-US" sz="2846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KPI 카드 4개 </a:t>
            </a:r>
            <a:r>
              <a:rPr lang="en-US" sz="2846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(순증감율/폐업률증감/프랜차이즈침투율/위험상권개수) — 한눈에 현재 서울 전체 상태 파악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3153" y="4608166"/>
            <a:ext cx="365970" cy="24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2354" b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0242" y="4348763"/>
            <a:ext cx="12583335" cy="112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8"/>
              </a:lnSpc>
            </a:pPr>
            <a:r>
              <a:rPr lang="en-US" sz="2846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자치구별 위험비율 막대 + Choropleth 지도 </a:t>
            </a:r>
            <a:r>
              <a:rPr lang="en-US" sz="2846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— 어디가 위험한지 지리적으로 즉시 확인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3153" y="5900547"/>
            <a:ext cx="365970" cy="24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2354" b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30242" y="5795772"/>
            <a:ext cx="12583335" cy="603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8"/>
              </a:lnSpc>
            </a:pPr>
            <a:r>
              <a:rPr lang="en-US" sz="2846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분기별 KPI1 추이 라인차트 </a:t>
            </a:r>
            <a:r>
              <a:rPr lang="en-US" sz="2846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— 상/하위 자치구만 하이라이트해 가독성 확보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3153" y="7192928"/>
            <a:ext cx="365970" cy="24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2354" b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39767" y="7088153"/>
            <a:ext cx="10343779" cy="603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8"/>
              </a:lnSpc>
            </a:pPr>
            <a:r>
              <a:rPr lang="en-US" sz="2846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상권구분별 비교 막대 </a:t>
            </a:r>
            <a:r>
              <a:rPr lang="en-US" sz="2846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— 발달상권 위험도 시각적 강조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905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1303" y="825503"/>
            <a:ext cx="3106731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대시보드 · 09 /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3153" y="1225553"/>
            <a:ext cx="17760953" cy="56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650" b="1" spc="-45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화면2 — 상권 단위 원인 분석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1991620"/>
            <a:ext cx="16192500" cy="19050"/>
            <a:chOff x="0" y="0"/>
            <a:chExt cx="21590000" cy="25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750" y="3019758"/>
            <a:ext cx="63284" cy="1553623"/>
            <a:chOff x="0" y="0"/>
            <a:chExt cx="84379" cy="20714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4328" cy="2071497"/>
            </a:xfrm>
            <a:custGeom>
              <a:avLst/>
              <a:gdLst/>
              <a:ahLst/>
              <a:cxnLst/>
              <a:rect l="l" t="t" r="r" b="b"/>
              <a:pathLst>
                <a:path w="84328" h="2071497">
                  <a:moveTo>
                    <a:pt x="0" y="0"/>
                  </a:moveTo>
                  <a:lnTo>
                    <a:pt x="84328" y="0"/>
                  </a:lnTo>
                  <a:lnTo>
                    <a:pt x="84328" y="2071497"/>
                  </a:lnTo>
                  <a:lnTo>
                    <a:pt x="0" y="2071497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01292" y="3088862"/>
            <a:ext cx="13838101" cy="408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435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Dimension #1 · 업종 구성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1292" y="3425590"/>
            <a:ext cx="12952124" cy="1048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628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위험 상권에 유독 많은/적은 업종 Top10 — 청과상·육류판매 등 전통 소매, 세무사·변호사 등 전문직 사무소가 위험 상권에 집중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47750" y="4820831"/>
            <a:ext cx="63284" cy="1565996"/>
            <a:chOff x="0" y="0"/>
            <a:chExt cx="84379" cy="20879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4328" cy="2088007"/>
            </a:xfrm>
            <a:custGeom>
              <a:avLst/>
              <a:gdLst/>
              <a:ahLst/>
              <a:cxnLst/>
              <a:rect l="l" t="t" r="r" b="b"/>
              <a:pathLst>
                <a:path w="84328" h="2088007">
                  <a:moveTo>
                    <a:pt x="0" y="0"/>
                  </a:moveTo>
                  <a:lnTo>
                    <a:pt x="84328" y="0"/>
                  </a:lnTo>
                  <a:lnTo>
                    <a:pt x="84328" y="2088007"/>
                  </a:lnTo>
                  <a:lnTo>
                    <a:pt x="0" y="2088007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01292" y="4889944"/>
            <a:ext cx="13838101" cy="408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435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Dimension #2 · 집객시설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1292" y="5226672"/>
            <a:ext cx="12952124" cy="1048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628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위험 상권이 오히려 인프라(지하철역·버스정거장·은행·약국)가 더 많음 — </a:t>
            </a:r>
            <a:r>
              <a:rPr lang="en-US" sz="2628" b="1">
                <a:solidFill>
                  <a:srgbClr val="1C6FD6"/>
                </a:solidFill>
                <a:latin typeface="Arial Bold"/>
                <a:ea typeface="Arial Bold"/>
                <a:cs typeface="Arial Bold"/>
                <a:sym typeface="Arial Bold"/>
              </a:rPr>
              <a:t>‘통과형 상권’ 가설 </a:t>
            </a:r>
            <a:r>
              <a:rPr lang="en-US" sz="2628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(유동인구는 있으나 소비 전환 부족)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47750" y="6634286"/>
            <a:ext cx="63284" cy="1086136"/>
            <a:chOff x="0" y="0"/>
            <a:chExt cx="84379" cy="14481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4328" cy="1448181"/>
            </a:xfrm>
            <a:custGeom>
              <a:avLst/>
              <a:gdLst/>
              <a:ahLst/>
              <a:cxnLst/>
              <a:rect l="l" t="t" r="r" b="b"/>
              <a:pathLst>
                <a:path w="84328" h="1448181">
                  <a:moveTo>
                    <a:pt x="0" y="0"/>
                  </a:moveTo>
                  <a:lnTo>
                    <a:pt x="84328" y="0"/>
                  </a:lnTo>
                  <a:lnTo>
                    <a:pt x="84328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01292" y="6703400"/>
            <a:ext cx="13838101" cy="408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435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위험 상권 통합 테이블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1292" y="7040128"/>
            <a:ext cx="13838101" cy="56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628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285개 전체를 KPI 3개 기준 조건부 서식으로 한눈에 비교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47750" y="8279267"/>
            <a:ext cx="63284" cy="1086136"/>
            <a:chOff x="0" y="0"/>
            <a:chExt cx="84379" cy="144818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4328" cy="1448181"/>
            </a:xfrm>
            <a:custGeom>
              <a:avLst/>
              <a:gdLst/>
              <a:ahLst/>
              <a:cxnLst/>
              <a:rect l="l" t="t" r="r" b="b"/>
              <a:pathLst>
                <a:path w="84328" h="1448181">
                  <a:moveTo>
                    <a:pt x="0" y="0"/>
                  </a:moveTo>
                  <a:lnTo>
                    <a:pt x="84328" y="0"/>
                  </a:lnTo>
                  <a:lnTo>
                    <a:pt x="84328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501292" y="8348380"/>
            <a:ext cx="2397862" cy="359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435" b="1" dirty="0" err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상권</a:t>
            </a:r>
            <a:r>
              <a:rPr lang="en-US" sz="2435" b="1" dirty="0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435" b="1" dirty="0" err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상세</a:t>
            </a:r>
            <a:r>
              <a:rPr lang="en-US" sz="2435" b="1" dirty="0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435" b="1" dirty="0" err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지도</a:t>
            </a:r>
            <a:endParaRPr lang="en-US" sz="2435" b="1" dirty="0">
              <a:solidFill>
                <a:srgbClr val="10243B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01292" y="8685108"/>
            <a:ext cx="13838101" cy="48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628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개별</a:t>
            </a:r>
            <a:r>
              <a:rPr lang="en-US" sz="2628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28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위험</a:t>
            </a:r>
            <a:r>
              <a:rPr lang="en-US" sz="2628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28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상권</a:t>
            </a:r>
            <a:r>
              <a:rPr lang="en-US" sz="2628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28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위치</a:t>
            </a:r>
            <a:r>
              <a:rPr lang="en-US" sz="2628" dirty="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28" dirty="0" err="1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확인</a:t>
            </a:r>
            <a:endParaRPr lang="en-US" sz="2628" dirty="0">
              <a:solidFill>
                <a:srgbClr val="5C6B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905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1303" y="825503"/>
            <a:ext cx="3564493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AI 리포트 · 10 /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3153" y="1225553"/>
            <a:ext cx="17760953" cy="56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650" b="1" spc="-45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AI 진단 리포트 — 데이터 근거 기반 3단 리포트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1991620"/>
            <a:ext cx="16192500" cy="19050"/>
            <a:chOff x="0" y="0"/>
            <a:chExt cx="21590000" cy="25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750" y="4614120"/>
            <a:ext cx="3992023" cy="12192"/>
            <a:chOff x="0" y="0"/>
            <a:chExt cx="5322697" cy="162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22697" cy="16256"/>
            </a:xfrm>
            <a:custGeom>
              <a:avLst/>
              <a:gdLst/>
              <a:ahLst/>
              <a:cxnLst/>
              <a:rect l="l" t="t" r="r" b="b"/>
              <a:pathLst>
                <a:path w="5322697" h="16256">
                  <a:moveTo>
                    <a:pt x="0" y="0"/>
                  </a:moveTo>
                  <a:lnTo>
                    <a:pt x="5322697" y="0"/>
                  </a:lnTo>
                  <a:lnTo>
                    <a:pt x="5322697" y="16256"/>
                  </a:lnTo>
                  <a:lnTo>
                    <a:pt x="0" y="16256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3273419"/>
            <a:ext cx="3992023" cy="48778"/>
            <a:chOff x="0" y="0"/>
            <a:chExt cx="5322697" cy="650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22697" cy="65024"/>
            </a:xfrm>
            <a:custGeom>
              <a:avLst/>
              <a:gdLst/>
              <a:ahLst/>
              <a:cxnLst/>
              <a:rect l="l" t="t" r="r" b="b"/>
              <a:pathLst>
                <a:path w="5322697" h="65024">
                  <a:moveTo>
                    <a:pt x="0" y="0"/>
                  </a:moveTo>
                  <a:lnTo>
                    <a:pt x="5322697" y="0"/>
                  </a:lnTo>
                  <a:lnTo>
                    <a:pt x="5322697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750" y="3273419"/>
            <a:ext cx="12192" cy="1352950"/>
            <a:chOff x="0" y="0"/>
            <a:chExt cx="16256" cy="18039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56" cy="1803908"/>
            </a:xfrm>
            <a:custGeom>
              <a:avLst/>
              <a:gdLst/>
              <a:ahLst/>
              <a:cxnLst/>
              <a:rect l="l" t="t" r="r" b="b"/>
              <a:pathLst>
                <a:path w="16256" h="1803908">
                  <a:moveTo>
                    <a:pt x="0" y="0"/>
                  </a:moveTo>
                  <a:lnTo>
                    <a:pt x="16256" y="0"/>
                  </a:lnTo>
                  <a:lnTo>
                    <a:pt x="16256" y="1803908"/>
                  </a:lnTo>
                  <a:lnTo>
                    <a:pt x="0" y="180390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992148" y="3273419"/>
            <a:ext cx="47625" cy="1352950"/>
            <a:chOff x="0" y="0"/>
            <a:chExt cx="63500" cy="18039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" cy="1803908"/>
            </a:xfrm>
            <a:custGeom>
              <a:avLst/>
              <a:gdLst/>
              <a:ahLst/>
              <a:cxnLst/>
              <a:rect l="l" t="t" r="r" b="b"/>
              <a:pathLst>
                <a:path w="63500" h="1803908">
                  <a:moveTo>
                    <a:pt x="0" y="0"/>
                  </a:moveTo>
                  <a:lnTo>
                    <a:pt x="63500" y="0"/>
                  </a:lnTo>
                  <a:lnTo>
                    <a:pt x="63500" y="1803908"/>
                  </a:lnTo>
                  <a:lnTo>
                    <a:pt x="0" y="180390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20882" y="3579562"/>
            <a:ext cx="3577542" cy="36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2304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① 진단 요약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0882" y="3903764"/>
            <a:ext cx="3577542" cy="44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208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근거: </a:t>
            </a:r>
            <a:r>
              <a:rPr lang="en-US" sz="2208" b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KPI 수치만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01612" y="3273419"/>
            <a:ext cx="485518" cy="1401670"/>
            <a:chOff x="0" y="0"/>
            <a:chExt cx="647357" cy="18688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47319" cy="1868932"/>
            </a:xfrm>
            <a:custGeom>
              <a:avLst/>
              <a:gdLst/>
              <a:ahLst/>
              <a:cxnLst/>
              <a:rect l="l" t="t" r="r" b="b"/>
              <a:pathLst>
                <a:path w="647319" h="1868932">
                  <a:moveTo>
                    <a:pt x="0" y="0"/>
                  </a:moveTo>
                  <a:lnTo>
                    <a:pt x="647319" y="0"/>
                  </a:lnTo>
                  <a:lnTo>
                    <a:pt x="647319" y="1868932"/>
                  </a:lnTo>
                  <a:lnTo>
                    <a:pt x="0" y="18689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0684" r="-320690" b="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01612" y="3300860"/>
            <a:ext cx="485518" cy="1374229"/>
            <a:chOff x="0" y="0"/>
            <a:chExt cx="647357" cy="183230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7356" cy="1832311"/>
            </a:xfrm>
            <a:custGeom>
              <a:avLst/>
              <a:gdLst/>
              <a:ahLst/>
              <a:cxnLst/>
              <a:rect l="l" t="t" r="r" b="b"/>
              <a:pathLst>
                <a:path w="647356" h="1832311">
                  <a:moveTo>
                    <a:pt x="0" y="0"/>
                  </a:moveTo>
                  <a:lnTo>
                    <a:pt x="647356" y="0"/>
                  </a:lnTo>
                  <a:lnTo>
                    <a:pt x="647356" y="1832311"/>
                  </a:lnTo>
                  <a:lnTo>
                    <a:pt x="0" y="18323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3156" r="-31315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647357" cy="1803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1"/>
                </a:lnSpc>
              </a:pPr>
              <a:r>
                <a:rPr lang="en-US" sz="2100" b="1">
                  <a:solidFill>
                    <a:srgbClr val="128A8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41079" y="4614120"/>
            <a:ext cx="3992023" cy="12192"/>
            <a:chOff x="0" y="0"/>
            <a:chExt cx="5322697" cy="162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322697" cy="16256"/>
            </a:xfrm>
            <a:custGeom>
              <a:avLst/>
              <a:gdLst/>
              <a:ahLst/>
              <a:cxnLst/>
              <a:rect l="l" t="t" r="r" b="b"/>
              <a:pathLst>
                <a:path w="5322697" h="16256">
                  <a:moveTo>
                    <a:pt x="0" y="0"/>
                  </a:moveTo>
                  <a:lnTo>
                    <a:pt x="5322697" y="0"/>
                  </a:lnTo>
                  <a:lnTo>
                    <a:pt x="5322697" y="16256"/>
                  </a:lnTo>
                  <a:lnTo>
                    <a:pt x="0" y="16256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41079" y="3273419"/>
            <a:ext cx="3992023" cy="48778"/>
            <a:chOff x="0" y="0"/>
            <a:chExt cx="5322697" cy="650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22697" cy="65024"/>
            </a:xfrm>
            <a:custGeom>
              <a:avLst/>
              <a:gdLst/>
              <a:ahLst/>
              <a:cxnLst/>
              <a:rect l="l" t="t" r="r" b="b"/>
              <a:pathLst>
                <a:path w="5322697" h="65024">
                  <a:moveTo>
                    <a:pt x="0" y="0"/>
                  </a:moveTo>
                  <a:lnTo>
                    <a:pt x="5322697" y="0"/>
                  </a:lnTo>
                  <a:lnTo>
                    <a:pt x="5322697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06942" y="3273419"/>
            <a:ext cx="47625" cy="1352950"/>
            <a:chOff x="0" y="0"/>
            <a:chExt cx="63500" cy="180393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500" cy="1803908"/>
            </a:xfrm>
            <a:custGeom>
              <a:avLst/>
              <a:gdLst/>
              <a:ahLst/>
              <a:cxnLst/>
              <a:rect l="l" t="t" r="r" b="b"/>
              <a:pathLst>
                <a:path w="63500" h="1803908">
                  <a:moveTo>
                    <a:pt x="0" y="0"/>
                  </a:moveTo>
                  <a:lnTo>
                    <a:pt x="63500" y="0"/>
                  </a:lnTo>
                  <a:lnTo>
                    <a:pt x="63500" y="1803908"/>
                  </a:lnTo>
                  <a:lnTo>
                    <a:pt x="0" y="180390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685477" y="3273419"/>
            <a:ext cx="47625" cy="1352950"/>
            <a:chOff x="0" y="0"/>
            <a:chExt cx="63500" cy="180393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500" cy="1803908"/>
            </a:xfrm>
            <a:custGeom>
              <a:avLst/>
              <a:gdLst/>
              <a:ahLst/>
              <a:cxnLst/>
              <a:rect l="l" t="t" r="r" b="b"/>
              <a:pathLst>
                <a:path w="63500" h="1803908">
                  <a:moveTo>
                    <a:pt x="0" y="0"/>
                  </a:moveTo>
                  <a:lnTo>
                    <a:pt x="63500" y="0"/>
                  </a:lnTo>
                  <a:lnTo>
                    <a:pt x="63500" y="1803908"/>
                  </a:lnTo>
                  <a:lnTo>
                    <a:pt x="0" y="180390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114212" y="3579562"/>
            <a:ext cx="3577542" cy="36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2304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② 원인 가설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14212" y="3903764"/>
            <a:ext cx="3577542" cy="44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208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근거: </a:t>
            </a:r>
            <a:r>
              <a:rPr lang="en-US" sz="2208" b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업종/시설 데이터만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894941" y="3273419"/>
            <a:ext cx="485518" cy="1401670"/>
            <a:chOff x="0" y="0"/>
            <a:chExt cx="647357" cy="186889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47319" cy="1868932"/>
            </a:xfrm>
            <a:custGeom>
              <a:avLst/>
              <a:gdLst/>
              <a:ahLst/>
              <a:cxnLst/>
              <a:rect l="l" t="t" r="r" b="b"/>
              <a:pathLst>
                <a:path w="647319" h="1868932">
                  <a:moveTo>
                    <a:pt x="0" y="0"/>
                  </a:moveTo>
                  <a:lnTo>
                    <a:pt x="647319" y="0"/>
                  </a:lnTo>
                  <a:lnTo>
                    <a:pt x="647319" y="1868932"/>
                  </a:lnTo>
                  <a:lnTo>
                    <a:pt x="0" y="18689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0684" r="-320690" b="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894941" y="3300860"/>
            <a:ext cx="485518" cy="1374229"/>
            <a:chOff x="0" y="0"/>
            <a:chExt cx="647357" cy="183230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47356" cy="1832311"/>
            </a:xfrm>
            <a:custGeom>
              <a:avLst/>
              <a:gdLst/>
              <a:ahLst/>
              <a:cxnLst/>
              <a:rect l="l" t="t" r="r" b="b"/>
              <a:pathLst>
                <a:path w="647356" h="1832311">
                  <a:moveTo>
                    <a:pt x="0" y="0"/>
                  </a:moveTo>
                  <a:lnTo>
                    <a:pt x="647356" y="0"/>
                  </a:lnTo>
                  <a:lnTo>
                    <a:pt x="647356" y="1832311"/>
                  </a:lnTo>
                  <a:lnTo>
                    <a:pt x="0" y="18323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3156" r="-31315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28575"/>
              <a:ext cx="647357" cy="1803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1"/>
                </a:lnSpc>
              </a:pPr>
              <a:r>
                <a:rPr lang="en-US" sz="2100" b="1">
                  <a:solidFill>
                    <a:srgbClr val="128A8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434399" y="4614120"/>
            <a:ext cx="3992023" cy="12192"/>
            <a:chOff x="0" y="0"/>
            <a:chExt cx="5322697" cy="1625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322697" cy="16256"/>
            </a:xfrm>
            <a:custGeom>
              <a:avLst/>
              <a:gdLst/>
              <a:ahLst/>
              <a:cxnLst/>
              <a:rect l="l" t="t" r="r" b="b"/>
              <a:pathLst>
                <a:path w="5322697" h="16256">
                  <a:moveTo>
                    <a:pt x="0" y="0"/>
                  </a:moveTo>
                  <a:lnTo>
                    <a:pt x="5322697" y="0"/>
                  </a:lnTo>
                  <a:lnTo>
                    <a:pt x="5322697" y="16256"/>
                  </a:lnTo>
                  <a:lnTo>
                    <a:pt x="0" y="16256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34399" y="3273419"/>
            <a:ext cx="3992023" cy="48778"/>
            <a:chOff x="0" y="0"/>
            <a:chExt cx="5322697" cy="6503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322697" cy="65024"/>
            </a:xfrm>
            <a:custGeom>
              <a:avLst/>
              <a:gdLst/>
              <a:ahLst/>
              <a:cxnLst/>
              <a:rect l="l" t="t" r="r" b="b"/>
              <a:pathLst>
                <a:path w="5322697" h="65024">
                  <a:moveTo>
                    <a:pt x="0" y="0"/>
                  </a:moveTo>
                  <a:lnTo>
                    <a:pt x="5322697" y="0"/>
                  </a:lnTo>
                  <a:lnTo>
                    <a:pt x="5322697" y="65024"/>
                  </a:lnTo>
                  <a:lnTo>
                    <a:pt x="0" y="65024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400262" y="3273419"/>
            <a:ext cx="47625" cy="1352950"/>
            <a:chOff x="0" y="0"/>
            <a:chExt cx="63500" cy="180393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3500" cy="1803908"/>
            </a:xfrm>
            <a:custGeom>
              <a:avLst/>
              <a:gdLst/>
              <a:ahLst/>
              <a:cxnLst/>
              <a:rect l="l" t="t" r="r" b="b"/>
              <a:pathLst>
                <a:path w="63500" h="1803908">
                  <a:moveTo>
                    <a:pt x="0" y="0"/>
                  </a:moveTo>
                  <a:lnTo>
                    <a:pt x="63500" y="0"/>
                  </a:lnTo>
                  <a:lnTo>
                    <a:pt x="63500" y="1803908"/>
                  </a:lnTo>
                  <a:lnTo>
                    <a:pt x="0" y="180390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419945" y="3273419"/>
            <a:ext cx="60427" cy="1340758"/>
            <a:chOff x="0" y="0"/>
            <a:chExt cx="80569" cy="178767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0518" cy="1787652"/>
            </a:xfrm>
            <a:custGeom>
              <a:avLst/>
              <a:gdLst/>
              <a:ahLst/>
              <a:cxnLst/>
              <a:rect l="l" t="t" r="r" b="b"/>
              <a:pathLst>
                <a:path w="80518" h="1787652">
                  <a:moveTo>
                    <a:pt x="0" y="0"/>
                  </a:moveTo>
                  <a:lnTo>
                    <a:pt x="80518" y="0"/>
                  </a:lnTo>
                  <a:lnTo>
                    <a:pt x="80518" y="1787652"/>
                  </a:lnTo>
                  <a:lnTo>
                    <a:pt x="0" y="1787652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0807532" y="3579562"/>
            <a:ext cx="3577542" cy="36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2304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③ 정책 제안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07532" y="3903764"/>
            <a:ext cx="3577542" cy="44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208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근거: </a:t>
            </a:r>
            <a:r>
              <a:rPr lang="en-US" sz="2208" b="1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KPI-정책 매칭표만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83716" y="4809773"/>
            <a:ext cx="13708113" cy="100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sz="2688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위험도(KPI1) 285개중 상위 </a:t>
            </a:r>
            <a:r>
              <a:rPr lang="en-US" sz="2688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50개 상권</a:t>
            </a:r>
            <a:r>
              <a:rPr lang="en-US" sz="2688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에 대해 3단 구조 리포트 생성 — 각 단계 근거를 명확히 제한해 </a:t>
            </a:r>
            <a:r>
              <a:rPr lang="en-US" sz="2688" b="1">
                <a:solidFill>
                  <a:srgbClr val="1C6FD6"/>
                </a:solidFill>
                <a:latin typeface="Arial Bold"/>
                <a:ea typeface="Arial Bold"/>
                <a:cs typeface="Arial Bold"/>
                <a:sym typeface="Arial Bold"/>
              </a:rPr>
              <a:t>환각 방지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83716" y="6031487"/>
            <a:ext cx="13708113" cy="58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sz="2688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대시보드 통합: 위험상권 통합 테이블에서 상권 클릭 → 해당 리포트가 </a:t>
            </a:r>
            <a:r>
              <a:rPr lang="en-US" sz="2688" b="1">
                <a:solidFill>
                  <a:srgbClr val="17202A"/>
                </a:solidFill>
                <a:latin typeface="Arial Bold"/>
                <a:ea typeface="Arial Bold"/>
                <a:cs typeface="Arial Bold"/>
                <a:sym typeface="Arial Bold"/>
              </a:rPr>
              <a:t>필터 액션으로 즉시 노출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047750" y="3323473"/>
            <a:ext cx="47625" cy="1352950"/>
            <a:chOff x="0" y="0"/>
            <a:chExt cx="63500" cy="180393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3500" cy="1803908"/>
            </a:xfrm>
            <a:custGeom>
              <a:avLst/>
              <a:gdLst/>
              <a:ahLst/>
              <a:cxnLst/>
              <a:rect l="l" t="t" r="r" b="b"/>
              <a:pathLst>
                <a:path w="63500" h="1803908">
                  <a:moveTo>
                    <a:pt x="0" y="0"/>
                  </a:moveTo>
                  <a:lnTo>
                    <a:pt x="63500" y="0"/>
                  </a:lnTo>
                  <a:lnTo>
                    <a:pt x="63500" y="1803908"/>
                  </a:lnTo>
                  <a:lnTo>
                    <a:pt x="0" y="1803908"/>
                  </a:lnTo>
                  <a:close/>
                </a:path>
              </a:pathLst>
            </a:custGeom>
            <a:solidFill>
              <a:srgbClr val="D7DDE4"/>
            </a:solidFill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905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1303" y="825503"/>
            <a:ext cx="3564493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AI 활용 · 11 /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3153" y="1225553"/>
            <a:ext cx="17760953" cy="63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650" b="1" spc="-45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AI 활용 – MCP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3153" y="2341902"/>
            <a:ext cx="16141694" cy="3938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spc="-1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Claude Desktop에 </a:t>
            </a:r>
            <a:r>
              <a:rPr lang="en-US" sz="2400" b="1" spc="-10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Tableau MCP</a:t>
            </a:r>
            <a:r>
              <a:rPr lang="en-US" sz="2400" spc="-1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(공식 커넥터, mcp.tableau.com)를 연결 — 게시된 데이터소스에 자연어로 직접 질의 가능</a:t>
            </a:r>
          </a:p>
          <a:p>
            <a:pPr algn="l">
              <a:lnSpc>
                <a:spcPts val="3120"/>
              </a:lnSpc>
            </a:pPr>
            <a:r>
              <a:rPr lang="en-US" sz="2400" b="1" spc="-10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활용 방향: </a:t>
            </a:r>
            <a:r>
              <a:rPr lang="en-US" sz="2400" spc="-1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정책 담당자가 대시보드 화면을 직접 조작하지 않고도, 궁금한 걸 바로 물어서 답을 얻는 보조 채널로 기능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962400" y="4152900"/>
            <a:ext cx="9144000" cy="5590194"/>
            <a:chOff x="0" y="0"/>
            <a:chExt cx="11639550" cy="74535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639550" cy="7453630"/>
            </a:xfrm>
            <a:custGeom>
              <a:avLst/>
              <a:gdLst/>
              <a:ahLst/>
              <a:cxnLst/>
              <a:rect l="l" t="t" r="r" b="b"/>
              <a:pathLst>
                <a:path w="11639550" h="7453630">
                  <a:moveTo>
                    <a:pt x="0" y="0"/>
                  </a:moveTo>
                  <a:lnTo>
                    <a:pt x="11639550" y="0"/>
                  </a:lnTo>
                  <a:lnTo>
                    <a:pt x="11639550" y="7453630"/>
                  </a:lnTo>
                  <a:lnTo>
                    <a:pt x="0" y="7453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57" b="-10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905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1303" y="825503"/>
            <a:ext cx="3583181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정책 제언 · 12 /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3153" y="1225553"/>
            <a:ext cx="17760953" cy="56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650" b="1" spc="-45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KPI별 선제적 개입 방안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1991620"/>
            <a:ext cx="16192500" cy="19050"/>
            <a:chOff x="0" y="0"/>
            <a:chExt cx="21590000" cy="25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9416" y="2345236"/>
            <a:ext cx="5261705" cy="2276951"/>
            <a:chOff x="0" y="0"/>
            <a:chExt cx="7015607" cy="30359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15607" cy="3035935"/>
            </a:xfrm>
            <a:custGeom>
              <a:avLst/>
              <a:gdLst/>
              <a:ahLst/>
              <a:cxnLst/>
              <a:rect l="l" t="t" r="r" b="b"/>
              <a:pathLst>
                <a:path w="7015607" h="3035935">
                  <a:moveTo>
                    <a:pt x="0" y="0"/>
                  </a:moveTo>
                  <a:lnTo>
                    <a:pt x="7015607" y="0"/>
                  </a:lnTo>
                  <a:lnTo>
                    <a:pt x="7015607" y="3035935"/>
                  </a:lnTo>
                  <a:lnTo>
                    <a:pt x="0" y="30359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60" r="-5560"/>
              </a:stretch>
            </a:blipFill>
            <a:ln w="9525" cap="sq">
              <a:solidFill>
                <a:srgbClr val="D7DDE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7275" y="2363095"/>
            <a:ext cx="5225986" cy="1038225"/>
            <a:chOff x="0" y="0"/>
            <a:chExt cx="6967982" cy="1384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67982" cy="1384300"/>
            </a:xfrm>
            <a:custGeom>
              <a:avLst/>
              <a:gdLst/>
              <a:ahLst/>
              <a:cxnLst/>
              <a:rect l="l" t="t" r="r" b="b"/>
              <a:pathLst>
                <a:path w="6967982" h="1384300">
                  <a:moveTo>
                    <a:pt x="0" y="0"/>
                  </a:moveTo>
                  <a:lnTo>
                    <a:pt x="6967982" y="0"/>
                  </a:lnTo>
                  <a:lnTo>
                    <a:pt x="6967982" y="1384300"/>
                  </a:lnTo>
                  <a:lnTo>
                    <a:pt x="0" y="1384300"/>
                  </a:lnTo>
                  <a:close/>
                </a:path>
              </a:pathLst>
            </a:custGeom>
            <a:solidFill>
              <a:srgbClr val="FBEEED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7275" y="3391795"/>
            <a:ext cx="5225986" cy="9525"/>
            <a:chOff x="0" y="0"/>
            <a:chExt cx="6967982" cy="12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67982" cy="12700"/>
            </a:xfrm>
            <a:custGeom>
              <a:avLst/>
              <a:gdLst/>
              <a:ahLst/>
              <a:cxnLst/>
              <a:rect l="l" t="t" r="r" b="b"/>
              <a:pathLst>
                <a:path w="6967982" h="12700">
                  <a:moveTo>
                    <a:pt x="0" y="0"/>
                  </a:moveTo>
                  <a:lnTo>
                    <a:pt x="6967982" y="0"/>
                  </a:lnTo>
                  <a:lnTo>
                    <a:pt x="696798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0C9C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30328" y="2598039"/>
            <a:ext cx="5152996" cy="177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500" b="1" spc="120">
                <a:solidFill>
                  <a:srgbClr val="D92D20"/>
                </a:solidFill>
                <a:latin typeface="Arial Bold"/>
                <a:ea typeface="Arial Bold"/>
                <a:cs typeface="Arial Bold"/>
                <a:sym typeface="Arial Bold"/>
              </a:rPr>
              <a:t>신호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0328" y="2807589"/>
            <a:ext cx="5152996" cy="38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25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순증감율 마이너스 전환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0328" y="3521964"/>
            <a:ext cx="4836709" cy="86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025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공실-창업 매칭 지원, 업종 다양화 인센티브, 팝업스토어 활성화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13090" y="2345236"/>
            <a:ext cx="5261705" cy="2276951"/>
            <a:chOff x="0" y="0"/>
            <a:chExt cx="7015607" cy="30359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15607" cy="3035935"/>
            </a:xfrm>
            <a:custGeom>
              <a:avLst/>
              <a:gdLst/>
              <a:ahLst/>
              <a:cxnLst/>
              <a:rect l="l" t="t" r="r" b="b"/>
              <a:pathLst>
                <a:path w="7015607" h="3035935">
                  <a:moveTo>
                    <a:pt x="0" y="0"/>
                  </a:moveTo>
                  <a:lnTo>
                    <a:pt x="7015607" y="0"/>
                  </a:lnTo>
                  <a:lnTo>
                    <a:pt x="7015607" y="3035935"/>
                  </a:lnTo>
                  <a:lnTo>
                    <a:pt x="0" y="30359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60" r="-5560"/>
              </a:stretch>
            </a:blipFill>
            <a:ln w="9525" cap="sq">
              <a:solidFill>
                <a:srgbClr val="D7DDE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30950" y="2363095"/>
            <a:ext cx="5225986" cy="1038225"/>
            <a:chOff x="0" y="0"/>
            <a:chExt cx="6967982" cy="13843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67982" cy="1384300"/>
            </a:xfrm>
            <a:custGeom>
              <a:avLst/>
              <a:gdLst/>
              <a:ahLst/>
              <a:cxnLst/>
              <a:rect l="l" t="t" r="r" b="b"/>
              <a:pathLst>
                <a:path w="6967982" h="1384300">
                  <a:moveTo>
                    <a:pt x="0" y="0"/>
                  </a:moveTo>
                  <a:lnTo>
                    <a:pt x="6967982" y="0"/>
                  </a:lnTo>
                  <a:lnTo>
                    <a:pt x="6967982" y="1384300"/>
                  </a:lnTo>
                  <a:lnTo>
                    <a:pt x="0" y="1384300"/>
                  </a:lnTo>
                  <a:close/>
                </a:path>
              </a:pathLst>
            </a:custGeom>
            <a:solidFill>
              <a:srgbClr val="FBEEED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30950" y="3391795"/>
            <a:ext cx="5225986" cy="9525"/>
            <a:chOff x="0" y="0"/>
            <a:chExt cx="6967982" cy="12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67982" cy="12700"/>
            </a:xfrm>
            <a:custGeom>
              <a:avLst/>
              <a:gdLst/>
              <a:ahLst/>
              <a:cxnLst/>
              <a:rect l="l" t="t" r="r" b="b"/>
              <a:pathLst>
                <a:path w="6967982" h="12700">
                  <a:moveTo>
                    <a:pt x="0" y="0"/>
                  </a:moveTo>
                  <a:lnTo>
                    <a:pt x="6967982" y="0"/>
                  </a:lnTo>
                  <a:lnTo>
                    <a:pt x="696798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0C9C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804003" y="2598039"/>
            <a:ext cx="5152996" cy="177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500" b="1" spc="120">
                <a:solidFill>
                  <a:srgbClr val="D92D20"/>
                </a:solidFill>
                <a:latin typeface="Arial Bold"/>
                <a:ea typeface="Arial Bold"/>
                <a:cs typeface="Arial Bold"/>
                <a:sym typeface="Arial Bold"/>
              </a:rPr>
              <a:t>신호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04003" y="2807589"/>
            <a:ext cx="5152996" cy="38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25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폐업률 증감 상승 조짐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04003" y="3521964"/>
            <a:ext cx="4836709" cy="493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025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위기 확정 전 경영 진단·컨설팅 연계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986765" y="2345236"/>
            <a:ext cx="5261800" cy="2276951"/>
            <a:chOff x="0" y="0"/>
            <a:chExt cx="7015734" cy="303593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15734" cy="3035935"/>
            </a:xfrm>
            <a:custGeom>
              <a:avLst/>
              <a:gdLst/>
              <a:ahLst/>
              <a:cxnLst/>
              <a:rect l="l" t="t" r="r" b="b"/>
              <a:pathLst>
                <a:path w="7015734" h="3035935">
                  <a:moveTo>
                    <a:pt x="0" y="0"/>
                  </a:moveTo>
                  <a:lnTo>
                    <a:pt x="7015734" y="0"/>
                  </a:lnTo>
                  <a:lnTo>
                    <a:pt x="7015734" y="3035935"/>
                  </a:lnTo>
                  <a:lnTo>
                    <a:pt x="0" y="30359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59" r="-5559"/>
              </a:stretch>
            </a:blipFill>
            <a:ln w="9525" cap="sq">
              <a:solidFill>
                <a:srgbClr val="D7DDE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004624" y="2363095"/>
            <a:ext cx="5226082" cy="1038225"/>
            <a:chOff x="0" y="0"/>
            <a:chExt cx="6968109" cy="13843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68109" cy="1384300"/>
            </a:xfrm>
            <a:custGeom>
              <a:avLst/>
              <a:gdLst/>
              <a:ahLst/>
              <a:cxnLst/>
              <a:rect l="l" t="t" r="r" b="b"/>
              <a:pathLst>
                <a:path w="6968109" h="1384300">
                  <a:moveTo>
                    <a:pt x="0" y="0"/>
                  </a:moveTo>
                  <a:lnTo>
                    <a:pt x="6968109" y="0"/>
                  </a:lnTo>
                  <a:lnTo>
                    <a:pt x="6968109" y="1384300"/>
                  </a:lnTo>
                  <a:lnTo>
                    <a:pt x="0" y="1384300"/>
                  </a:lnTo>
                  <a:close/>
                </a:path>
              </a:pathLst>
            </a:custGeom>
            <a:solidFill>
              <a:srgbClr val="FBEEED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004624" y="3391795"/>
            <a:ext cx="5226082" cy="9525"/>
            <a:chOff x="0" y="0"/>
            <a:chExt cx="6968109" cy="127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968109" cy="12700"/>
            </a:xfrm>
            <a:custGeom>
              <a:avLst/>
              <a:gdLst/>
              <a:ahLst/>
              <a:cxnLst/>
              <a:rect l="l" t="t" r="r" b="b"/>
              <a:pathLst>
                <a:path w="6968109" h="12700">
                  <a:moveTo>
                    <a:pt x="0" y="0"/>
                  </a:moveTo>
                  <a:lnTo>
                    <a:pt x="6968109" y="0"/>
                  </a:lnTo>
                  <a:lnTo>
                    <a:pt x="6968109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0C9C5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277677" y="2598039"/>
            <a:ext cx="5153082" cy="177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500" b="1" spc="120">
                <a:solidFill>
                  <a:srgbClr val="D92D20"/>
                </a:solidFill>
                <a:latin typeface="Arial Bold"/>
                <a:ea typeface="Arial Bold"/>
                <a:cs typeface="Arial Bold"/>
                <a:sym typeface="Arial Bold"/>
              </a:rPr>
              <a:t>신호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277677" y="2807589"/>
            <a:ext cx="5153082" cy="38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250" b="1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프랜차이즈 침투율 상승 조짐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277677" y="3521964"/>
            <a:ext cx="4836785" cy="493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025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임대료 협상 지원, 젠트리피케이션 조기 완화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47750" y="5143500"/>
            <a:ext cx="16192500" cy="1552651"/>
            <a:chOff x="0" y="0"/>
            <a:chExt cx="21590000" cy="207020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590000" cy="2070227"/>
            </a:xfrm>
            <a:custGeom>
              <a:avLst/>
              <a:gdLst/>
              <a:ahLst/>
              <a:cxnLst/>
              <a:rect l="l" t="t" r="r" b="b"/>
              <a:pathLst>
                <a:path w="21590000" h="2070227">
                  <a:moveTo>
                    <a:pt x="0" y="0"/>
                  </a:moveTo>
                  <a:lnTo>
                    <a:pt x="21590000" y="0"/>
                  </a:lnTo>
                  <a:lnTo>
                    <a:pt x="21590000" y="2070227"/>
                  </a:lnTo>
                  <a:lnTo>
                    <a:pt x="0" y="2070227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71600" y="5694912"/>
            <a:ext cx="1539459" cy="504501"/>
            <a:chOff x="0" y="0"/>
            <a:chExt cx="2052612" cy="67266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52574" cy="672719"/>
            </a:xfrm>
            <a:custGeom>
              <a:avLst/>
              <a:gdLst/>
              <a:ahLst/>
              <a:cxnLst/>
              <a:rect l="l" t="t" r="r" b="b"/>
              <a:pathLst>
                <a:path w="2052574" h="672719">
                  <a:moveTo>
                    <a:pt x="0" y="0"/>
                  </a:moveTo>
                  <a:lnTo>
                    <a:pt x="2052574" y="0"/>
                  </a:lnTo>
                  <a:lnTo>
                    <a:pt x="2052574" y="672719"/>
                  </a:lnTo>
                  <a:lnTo>
                    <a:pt x="0" y="672719"/>
                  </a:lnTo>
                  <a:close/>
                </a:path>
              </a:pathLst>
            </a:custGeom>
            <a:solidFill>
              <a:srgbClr val="2BB7B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511303" y="5846350"/>
            <a:ext cx="1312564" cy="27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910" b="1">
                <a:solidFill>
                  <a:srgbClr val="062A2B"/>
                </a:solidFill>
                <a:latin typeface="Arial Bold"/>
                <a:ea typeface="Arial Bold"/>
                <a:cs typeface="Arial Bold"/>
                <a:sym typeface="Arial Bold"/>
              </a:rPr>
              <a:t>＋ 발달상권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302899" y="5629799"/>
            <a:ext cx="12056516" cy="454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2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전수 모니터링 — 아직 위험 판정 임계값 미달이어도 </a:t>
            </a:r>
            <a:r>
              <a:rPr lang="en-US" sz="2250" b="1">
                <a:solidFill>
                  <a:srgbClr val="5FD0D2"/>
                </a:solidFill>
                <a:latin typeface="Arial Bold"/>
                <a:ea typeface="Arial Bold"/>
                <a:cs typeface="Arial Bold"/>
                <a:sym typeface="Arial Bold"/>
              </a:rPr>
              <a:t>하락 추세만으로 </a:t>
            </a:r>
            <a:r>
              <a:rPr lang="en-US" sz="225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조기 관찰 대상 편입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890588"/>
            <a:ext cx="323850" cy="28575"/>
            <a:chOff x="0" y="0"/>
            <a:chExt cx="431800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800" cy="38100"/>
            </a:xfrm>
            <a:custGeom>
              <a:avLst/>
              <a:gdLst/>
              <a:ahLst/>
              <a:cxnLst/>
              <a:rect l="l" t="t" r="r" b="b"/>
              <a:pathLst>
                <a:path w="431800" h="38100">
                  <a:moveTo>
                    <a:pt x="0" y="0"/>
                  </a:moveTo>
                  <a:lnTo>
                    <a:pt x="431800" y="0"/>
                  </a:lnTo>
                  <a:lnTo>
                    <a:pt x="431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28A8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11303" y="825503"/>
            <a:ext cx="2426313" cy="46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sz="1650" b="1" spc="297">
                <a:solidFill>
                  <a:srgbClr val="128A8C"/>
                </a:solidFill>
                <a:latin typeface="Arial Bold"/>
                <a:ea typeface="Arial Bold"/>
                <a:cs typeface="Arial Bold"/>
                <a:sym typeface="Arial Bold"/>
              </a:rPr>
              <a:t>정리 · 13 / 13</a:t>
            </a:r>
          </a:p>
          <a:p>
            <a:pPr algn="l">
              <a:lnSpc>
                <a:spcPts val="1742"/>
              </a:lnSpc>
            </a:pPr>
            <a:endParaRPr lang="en-US" sz="1650" b="1" spc="297">
              <a:solidFill>
                <a:srgbClr val="128A8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73153" y="1225553"/>
            <a:ext cx="17760953" cy="56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650" b="1" spc="-45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정리 및 향후 확장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750" y="1991620"/>
            <a:ext cx="16192500" cy="19050"/>
            <a:chOff x="0" y="0"/>
            <a:chExt cx="21590000" cy="25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25400"/>
            </a:xfrm>
            <a:custGeom>
              <a:avLst/>
              <a:gdLst/>
              <a:ahLst/>
              <a:cxnLst/>
              <a:rect l="l" t="t" r="r" b="b"/>
              <a:pathLst>
                <a:path w="21590000" h="254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43B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750" y="2794835"/>
            <a:ext cx="104775" cy="104775"/>
            <a:chOff x="0" y="0"/>
            <a:chExt cx="139700" cy="139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solidFill>
              <a:srgbClr val="1C6FD6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68428" y="2515429"/>
            <a:ext cx="15660510" cy="53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4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데이터 기반으로 </a:t>
            </a:r>
            <a:r>
              <a:rPr lang="en-US" sz="2400" b="1">
                <a:solidFill>
                  <a:srgbClr val="1C6FD6"/>
                </a:solidFill>
                <a:latin typeface="Arial Bold"/>
                <a:ea typeface="Arial Bold"/>
                <a:cs typeface="Arial Bold"/>
                <a:sym typeface="Arial Bold"/>
              </a:rPr>
              <a:t>“발달상권 위험” </a:t>
            </a:r>
            <a:r>
              <a:rPr lang="en-US" sz="24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같은 직관과 반대되는 인사이트 도출 → 실행 가능한 정책 우선순위 제시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4051221"/>
            <a:ext cx="104775" cy="104775"/>
            <a:chOff x="0" y="0"/>
            <a:chExt cx="139700" cy="139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solidFill>
              <a:srgbClr val="5C6B7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49378" y="3771824"/>
            <a:ext cx="15892377" cy="53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400" b="1">
                <a:solidFill>
                  <a:srgbClr val="5C6B7A"/>
                </a:solidFill>
                <a:latin typeface="Arial Bold"/>
                <a:ea typeface="Arial Bold"/>
                <a:cs typeface="Arial Bold"/>
                <a:sym typeface="Arial Bold"/>
              </a:rPr>
              <a:t>한계 </a:t>
            </a:r>
            <a:r>
              <a:rPr lang="en-US" sz="24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· 2025년 4개 분기 데이터만 존재해 장기 추세 판단에는 제약 — 데이터 누적 시 조기경보 정확도 향상 기대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47750" y="5577440"/>
            <a:ext cx="104775" cy="104775"/>
            <a:chOff x="0" y="0"/>
            <a:chExt cx="139700" cy="139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700" y="0"/>
                  </a:lnTo>
                  <a:lnTo>
                    <a:pt x="139700" y="139700"/>
                  </a:lnTo>
                  <a:lnTo>
                    <a:pt x="0" y="139700"/>
                  </a:lnTo>
                  <a:close/>
                </a:path>
              </a:pathLst>
            </a:custGeom>
            <a:solidFill>
              <a:srgbClr val="5C6B7A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49378" y="5260048"/>
            <a:ext cx="16211026" cy="53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0"/>
              </a:lnSpc>
            </a:pPr>
            <a:r>
              <a:rPr lang="en-US" sz="2400" b="1">
                <a:solidFill>
                  <a:srgbClr val="5C6B7A"/>
                </a:solidFill>
                <a:latin typeface="Arial Bold"/>
                <a:ea typeface="Arial Bold"/>
                <a:cs typeface="Arial Bold"/>
                <a:sym typeface="Arial Bold"/>
              </a:rPr>
              <a:t>한계 </a:t>
            </a:r>
            <a:r>
              <a:rPr lang="en-US" sz="2400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· 유동인구·체류시간·소비액 데이터 부재로 ‘통과형 상권’ 가설은 검증 미완 — 향후 외부 데이터 연계로 보완 가능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3153" y="8483603"/>
            <a:ext cx="2700938" cy="101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31"/>
              </a:lnSpc>
            </a:pPr>
            <a:r>
              <a:rPr lang="en-US" sz="9600" b="1" spc="-192">
                <a:solidFill>
                  <a:srgbClr val="10243B"/>
                </a:solidFill>
                <a:latin typeface="Arial Bold"/>
                <a:ea typeface="Arial Bold"/>
                <a:cs typeface="Arial Bold"/>
                <a:sym typeface="Arial Bold"/>
              </a:rPr>
              <a:t>Q&amp;A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12858" y="8950328"/>
            <a:ext cx="2028406" cy="43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250">
                <a:solidFill>
                  <a:srgbClr val="5C6B7A"/>
                </a:solidFill>
                <a:latin typeface="Arial"/>
                <a:ea typeface="Arial"/>
                <a:cs typeface="Arial"/>
                <a:sym typeface="Arial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1075</Words>
  <Application>Microsoft Macintosh PowerPoint</Application>
  <PresentationFormat>사용자 지정</PresentationFormat>
  <Paragraphs>153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Calibri</vt:lpstr>
      <vt:lpstr>Arial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상권 상세 지도</dc:title>
  <cp:lastModifiedBy>송 재윤</cp:lastModifiedBy>
  <cp:revision>2</cp:revision>
  <dcterms:created xsi:type="dcterms:W3CDTF">2006-08-16T00:00:00Z</dcterms:created>
  <dcterms:modified xsi:type="dcterms:W3CDTF">2026-09-16T15:12:51Z</dcterms:modified>
  <dc:identifier>DAHVXuTY-as</dc:identifier>
</cp:coreProperties>
</file>